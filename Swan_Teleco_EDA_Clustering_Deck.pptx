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wan_Telec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7" y="1051560"/>
            <a:ext cx="6035040" cy="34075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4526280"/>
            <a:ext cx="94484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2C587E"/>
                </a:solidFill>
                <a:latin typeface="Georgia"/>
              </a:rPr>
              <a:t>Customer retention: EDA, segmentation &amp; churn modelling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F5E5A"/>
                </a:solidFill>
                <a:latin typeface="Calibri"/>
              </a:rPr>
              <a:t>Answering the retention brief on the single customer view (7,043 customers)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6126480"/>
            <a:ext cx="94484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A47147"/>
                </a:solidFill>
                <a:latin typeface="Calibri"/>
              </a:rPr>
              <a:t>Technical walkthrough  ·  Retention team  ·  based on eda-and-clustering.ipynb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The retention brief in five questions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600200"/>
            <a:ext cx="420624" cy="420624"/>
          </a:xfrm>
          <a:prstGeom prst="ellipse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545336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C587E"/>
                </a:solidFill>
                <a:latin typeface="Georgia"/>
              </a:rPr>
              <a:t>What do churners look like, and what products do they have?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5E5A"/>
                </a:solidFill>
                <a:latin typeface="Calibri"/>
              </a:rPr>
              <a:t>Fibre-heavy with high charges and few add-ons; more often senior and single. Gender is not a factor.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560320"/>
            <a:ext cx="420624" cy="420624"/>
          </a:xfrm>
          <a:prstGeom prst="ellipse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05456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C587E"/>
                </a:solidFill>
                <a:latin typeface="Georgia"/>
              </a:rPr>
              <a:t>Why are they churning?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5E5A"/>
                </a:solidFill>
                <a:latin typeface="Calibri"/>
              </a:rPr>
              <a:t>Mostly competitor offers and poor service - not raw price.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520439"/>
            <a:ext cx="420624" cy="420624"/>
          </a:xfrm>
          <a:prstGeom prst="ellipse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465575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C587E"/>
                </a:solidFill>
                <a:latin typeface="Georgia"/>
              </a:rPr>
              <a:t>What makes customers stay, and what should we incentivise?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5E5A"/>
                </a:solidFill>
                <a:latin typeface="Calibri"/>
              </a:rPr>
              <a:t>Term contracts and add-ons. Pay the sales team the $2.50 commission on Online Security sign-ups.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80559"/>
            <a:ext cx="420624" cy="420624"/>
          </a:xfrm>
          <a:prstGeom prst="ellipse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25696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C587E"/>
                </a:solidFill>
                <a:latin typeface="Georgia"/>
              </a:rPr>
              <a:t>Which 500 customers should get the retention mailer?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5E5A"/>
                </a:solidFill>
                <a:latin typeface="Calibri"/>
              </a:rPr>
              <a:t>A ranked Top-500 at-risk list (mean risk 75%; ~100 retained at the expected 20% uptake).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5440679"/>
            <a:ext cx="420624" cy="420624"/>
          </a:xfrm>
          <a:prstGeom prst="ellipse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385816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C587E"/>
                </a:solidFill>
                <a:latin typeface="Georgia"/>
              </a:rPr>
              <a:t>What is the churn risk of our remaining customers?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5E5A"/>
                </a:solidFill>
                <a:latin typeface="Calibri"/>
              </a:rPr>
              <a:t>A 0-100 score + Low/Medium/High band for all 5,174 active customers.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Overview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The data: a single customer view of Swan Teleco's customers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5E5A"/>
                </a:solidFill>
                <a:latin typeface="Calibri"/>
              </a:rPr>
              <a:t>7,043 customers  ·  31 columns  ·  all in California  ·  one quarter of activity  ·  26.5% churned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65960"/>
          <a:ext cx="1083564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6172200"/>
                <a:gridCol w="2377440"/>
              </a:tblGrid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Group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Fields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Type / note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Identifiers &amp; location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CustomerID, City, Zip Code, Lat Long, Latitude, Longitude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PII - kept out of the model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Gender, Senior Citizen, Partner, Dependents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Categorical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Services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Phone Service, Multiple Lines, Internet Service, Online Security, Online Backup, Device Protection, Tech Support, Streaming TV, Streaming Movies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Categorical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Account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Tenure Months, Contract, Paperless Billing, Payment Method, Monthly Charges, Total Charges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Numeric + categorical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Churn Value (0/1), Churn Label, Churn Reason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Constant (dropped)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Count, Country, State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Single value - no signal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Overview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Data cleaning and feature preparation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83080"/>
            <a:ext cx="5257800" cy="452628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C587E"/>
                </a:solidFill>
                <a:latin typeface="Georgia"/>
              </a:rPr>
              <a:t>Cleaning &amp; data quality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Total Charges: 11 blank values (new customers, tenure 0) -&gt; set to 0, cast to numeric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Churn Reason: 73% null by design - only churners have one; kept, never imputed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No duplicate customers found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Every row validated against a Pydantic schema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783080"/>
            <a:ext cx="5257800" cy="452628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2057400"/>
            <a:ext cx="4663440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D15115"/>
                </a:solidFill>
                <a:latin typeface="Georgia"/>
              </a:rPr>
              <a:t>Features for the model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D15115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Categoricals one-hot encoded; numerics standardised - inside a leak-free Pipeline</a:t>
            </a:r>
          </a:p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300" b="1" i="0">
                <a:solidFill>
                  <a:srgbClr val="212121"/>
                </a:solidFill>
                <a:latin typeface="Calibri"/>
              </a:rPr>
              <a:t>Removed from the feature set, and why: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D15115"/>
                </a:solidFill>
                <a:latin typeface="Calibri"/>
              </a:rPr>
              <a:t>   -  </a:t>
            </a:r>
            <a:r>
              <a:rPr sz="1250">
                <a:solidFill>
                  <a:srgbClr val="212121"/>
                </a:solidFill>
                <a:latin typeface="Calibri"/>
              </a:rPr>
              <a:t>IDs &amp; location (CustomerID, City, Zip, Lat/Long) - identifiable, not predictive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D15115"/>
                </a:solidFill>
                <a:latin typeface="Calibri"/>
              </a:rPr>
              <a:t>   -  </a:t>
            </a:r>
            <a:r>
              <a:rPr sz="1250">
                <a:solidFill>
                  <a:srgbClr val="212121"/>
                </a:solidFill>
                <a:latin typeface="Calibri"/>
              </a:rPr>
              <a:t>Churn Reason - only known after a customer churns (leakage)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D15115"/>
                </a:solidFill>
                <a:latin typeface="Calibri"/>
              </a:rPr>
              <a:t>   -  </a:t>
            </a:r>
            <a:r>
              <a:rPr sz="1250">
                <a:solidFill>
                  <a:srgbClr val="212121"/>
                </a:solidFill>
                <a:latin typeface="Calibri"/>
              </a:rPr>
              <a:t>Churn Label - a direct copy of the target (leakage)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D15115"/>
                </a:solidFill>
                <a:latin typeface="Calibri"/>
              </a:rPr>
              <a:t>   -  </a:t>
            </a:r>
            <a:r>
              <a:rPr sz="1250">
                <a:solidFill>
                  <a:srgbClr val="212121"/>
                </a:solidFill>
                <a:latin typeface="Calibri"/>
              </a:rPr>
              <a:t>Count / Country / State - constant, no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Overview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DAC3B4"/>
                </a:solidFill>
                <a:latin typeface="Georgia"/>
              </a:rPr>
              <a:t>Question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What do churners look like - gender, family - and what products do they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Q1 · Who churns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C587E"/>
                </a:solidFill>
                <a:latin typeface="Georgia"/>
              </a:rPr>
              <a:t>Gender is not a factor; churners skew senior, single and low-commitment</a:t>
            </a:r>
          </a:p>
        </p:txBody>
      </p:sp>
      <p:pic>
        <p:nvPicPr>
          <p:cNvPr id="3" name="Picture 2" descr="demographic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783080"/>
            <a:ext cx="7994984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56235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F5E5A"/>
                </a:solidFill>
                <a:latin typeface="Calibri"/>
              </a:rPr>
              <a:t>Churners are more often senior (25% vs 16%), and less likely to have a partner (36% vs 48%) or dependents (6% vs 23%). Gender is ~50/50.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Churners are fibre-heavy but rarely hold protective add-ons</a:t>
            </a:r>
          </a:p>
        </p:txBody>
      </p:sp>
      <p:pic>
        <p:nvPicPr>
          <p:cNvPr id="3" name="Picture 2" descr="product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422810" cy="37490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46520" y="1874519"/>
            <a:ext cx="5074920" cy="438912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0" y="2148840"/>
            <a:ext cx="4480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D15115"/>
                </a:solidFill>
                <a:latin typeface="Georgia"/>
              </a:rPr>
              <a:t>Product profile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Almost all have phone service (91%)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Fibre optic internet is common (69%)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Streaming is popular (~44%)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But only ~16% hold Online Security and ~17% Tech Support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The protective add-ons that reduce churn are exactly the ones churners lack.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2C587E"/>
                </a:solidFill>
                <a:latin typeface="Georgia"/>
              </a:rPr>
              <a:t>We also grouped customers into archetypes with K-means</a:t>
            </a:r>
          </a:p>
        </p:txBody>
      </p:sp>
      <p:pic>
        <p:nvPicPr>
          <p:cNvPr id="3" name="Picture 2" descr="elbow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6558108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60920" y="2057400"/>
            <a:ext cx="4160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C587E"/>
                </a:solidFill>
                <a:latin typeface="Georgia"/>
              </a:rPr>
              <a:t>Choosing k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Churned and retained customers clustered separately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Features label-encoded and standardised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Swept k = 2-8, reading the elbow (inertia) and silhouette score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400" b="1" i="0">
                <a:solidFill>
                  <a:srgbClr val="D15115"/>
                </a:solidFill>
                <a:latin typeface="Calibri"/>
              </a:rPr>
              <a:t>Churned  -&gt;  k = 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15115"/>
                </a:solidFill>
                <a:latin typeface="Calibri"/>
              </a:rPr>
              <a:t>Retained  -&gt;  k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A high-risk churner archetype (51%) and a retained watchlist</a:t>
            </a:r>
          </a:p>
        </p:txBody>
      </p:sp>
      <p:pic>
        <p:nvPicPr>
          <p:cNvPr id="3" name="Picture 2" descr="churned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481021" cy="3657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355080" y="1874519"/>
            <a:ext cx="5166360" cy="210312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103120"/>
            <a:ext cx="45720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D15115"/>
                </a:solidFill>
                <a:latin typeface="Georgia"/>
              </a:rPr>
              <a:t>Churned Cluster 3 - high-risk (51% of churners)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Short tenure, high charges, ~98% month-to-month, fibre optic, almost no add-ons.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4160520"/>
            <a:ext cx="5166360" cy="2103120"/>
          </a:xfrm>
          <a:prstGeom prst="roundRect">
            <a:avLst>
              <a:gd name="adj" fmla="val 8000"/>
            </a:avLst>
          </a:prstGeom>
          <a:solidFill>
            <a:srgbClr val="F3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4389120"/>
            <a:ext cx="45720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A47147"/>
                </a:solidFill>
                <a:latin typeface="Georgia"/>
              </a:rPr>
              <a:t>Retained Cluster 1 - the watchlist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Mid tenure, high charges, 72% month-to-month - it mirrors the churners, so it is the clearest target for proactive retention.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Churned customers split into three archetypes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5E5A"/>
                </a:solidFill>
                <a:latin typeface="Calibri"/>
              </a:rPr>
              <a:t>All three are dominated by month-to-month contracts and low add-on take-up.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83564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2743200"/>
                <a:gridCol w="2743200"/>
                <a:gridCol w="2743200"/>
              </a:tblGrid>
              <a:tr h="42862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C1 · Budget DSL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C2 · Established fibre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C3 · New fibre (high-risk)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487  (26%)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420  (22%)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962  (51%)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Avg tenure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9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48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9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Avg monthly charge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$39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$94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$84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Internet type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77% DSL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88% fibre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96% fibre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Electronic check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69%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C587E"/>
                          </a:solidFill>
                          <a:latin typeface="Calibri"/>
                        </a:rPr>
                        <a:t>Has online security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12121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5800" y="5486400"/>
            <a:ext cx="10835640" cy="91440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5687568"/>
            <a:ext cx="10195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C3 is the priority: half of all churners, brand new, expensive, almost entirely month-to-month with only 10% holding online security.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Retained customers split into four - and one mirrors the churners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5E5A"/>
                </a:solidFill>
                <a:latin typeface="Calibri"/>
              </a:rPr>
              <a:t>The loyal segments are defined by term contracts, automatic payment and add-on take-up.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83564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2103120"/>
                <a:gridCol w="2103120"/>
                <a:gridCol w="2103120"/>
                <a:gridCol w="2103120"/>
              </a:tblGrid>
              <a:tr h="428625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C1 · Watchlist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C2 · Low-usage loyal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C3 · Loyal high-value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C4 · New low-spend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1,551  (30%)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805  (16%)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1,629  (31%)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1,189  (23%)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Avg tenure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23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56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61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12 months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Avg monthly charge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$73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$26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$91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$28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Internet type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51% fibre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80% none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62% fibre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65% none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Automatic payment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Has online security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5800" y="5486400"/>
            <a:ext cx="10835640" cy="914400"/>
          </a:xfrm>
          <a:prstGeom prst="roundRect">
            <a:avLst>
              <a:gd name="adj" fmla="val 8000"/>
            </a:avLst>
          </a:prstGeom>
          <a:solidFill>
            <a:srgbClr val="F3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5687568"/>
            <a:ext cx="10195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Retained C1 looks like a churner (72% month-to-month, mid charges) - it is the watchlist. Retained C3 proves high-spend fibre customers stay when locked in and using add-ons.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2C587E"/>
                </a:solidFill>
                <a:latin typeface="Georgia"/>
              </a:rPr>
              <a:t>The comparison: what separates a loyal high-spender from a churning one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83080"/>
            <a:ext cx="5349240" cy="420624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D15115"/>
                </a:solidFill>
                <a:latin typeface="Georgia"/>
              </a:rPr>
              <a:t>Churned C2 · Established fibre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A47147"/>
                </a:solidFill>
                <a:latin typeface="Calibri"/>
              </a:rPr>
              <a:t>48 months tenure  ·  $94 / month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61% still month-to-month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Only 43% on automatic payment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Only 29% hold online security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53% pay by electronic 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5349240" cy="420624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205740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C587E"/>
                </a:solidFill>
                <a:latin typeface="Georgia"/>
              </a:rPr>
              <a:t>Retained C3 · Loyal high-value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A47147"/>
                </a:solidFill>
                <a:latin typeface="Calibri"/>
              </a:rPr>
              <a:t>61 months tenure  ·  $91 / month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83% on a one- or two-year contract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68% on automatic payment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61% hold online security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Only 24% pay by electronic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F5E5A"/>
                </a:solidFill>
                <a:latin typeface="Calibri"/>
              </a:rPr>
              <a:t>Same product, same spend - the difference is contract lock-in, automatic payment and add-ons. Those are the levers we can actually pull.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Q1 · Who churns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DAC3B4"/>
                </a:solidFill>
                <a:latin typeface="Georgia"/>
              </a:rPr>
              <a:t>Question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Why are they churning?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Q2 · Why they churn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Customers leave for competitors and over service - not raw price</a:t>
            </a:r>
          </a:p>
        </p:txBody>
      </p:sp>
      <p:pic>
        <p:nvPicPr>
          <p:cNvPr id="3" name="Picture 2" descr="reas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331229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46520" y="1874519"/>
            <a:ext cx="5074920" cy="438912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0" y="2148840"/>
            <a:ext cx="4480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D15115"/>
                </a:solidFill>
                <a:latin typeface="Georgia"/>
              </a:rPr>
              <a:t>Why they churn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Competitor offers - speed, data, devices (33%)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Product dissatisfaction (23%)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Support attitude &amp; expertise (20%)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Price / data / speed - only 13%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The top reasons are addressable: a better offer and better support, not a price war.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Q2 · Why they churn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DAC3B4"/>
                </a:solidFill>
                <a:latin typeface="Georgia"/>
              </a:rPr>
              <a:t>Question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What makes customers stay - and what should we incentivise?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Q3 · What keeps them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2C587E"/>
                </a:solidFill>
                <a:latin typeface="Georgia"/>
              </a:rPr>
              <a:t>A term contract and add-ons keep customers - put the $2.50 commission on Online Security</a:t>
            </a:r>
          </a:p>
        </p:txBody>
      </p:sp>
      <p:pic>
        <p:nvPicPr>
          <p:cNvPr id="3" name="Picture 2" descr="retent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36431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46520" y="1874519"/>
            <a:ext cx="5074920" cy="438912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0" y="2148840"/>
            <a:ext cx="4480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D15115"/>
                </a:solidFill>
                <a:latin typeface="Georgia"/>
              </a:rPr>
              <a:t>The $2.50 incentive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A47147"/>
                </a:solidFill>
                <a:latin typeface="Calibri"/>
              </a:rPr>
              <a:t>A commission paid to the sales team per sign-up - on one metric only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Online security cuts churn 42% -&gt; 15% (a 27pp drop)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~3,500 internet customers lack it, churning at ~42%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One retained customer (~$777/yr) funds ~300 commissions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Pay the team $2.50 for every customer they sign up to Online Security.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Q3 · What keeps them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What most influences churn: contract type, tenure, charges and missing add-ons</a:t>
            </a:r>
          </a:p>
        </p:txBody>
      </p:sp>
      <p:pic>
        <p:nvPicPr>
          <p:cNvPr id="3" name="Picture 2" descr="importanc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783080"/>
            <a:ext cx="625209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598932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F5E5A"/>
                </a:solidFill>
                <a:latin typeface="Calibri"/>
              </a:rPr>
              <a:t>Model feature importances - the strongest churn drivers echo the EDA: contract type, tenure, charges, and a lack of online security / tech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Q3 · What keeps them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DAC3B4"/>
                </a:solidFill>
                <a:latin typeface="Georgia"/>
              </a:rPr>
              <a:t>Question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Which 500 customers should get the retention mailer?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Q4 · The mailer list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2C587E"/>
                </a:solidFill>
                <a:latin typeface="Georgia"/>
              </a:rPr>
              <a:t>How we rank risk: a validated Random Forest (test ROC-AUC 0.85)</a:t>
            </a:r>
          </a:p>
        </p:txBody>
      </p:sp>
      <p:pic>
        <p:nvPicPr>
          <p:cNvPr id="3" name="Picture 2" descr="roc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470044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965960"/>
            <a:ext cx="60350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C587E"/>
                </a:solidFill>
                <a:latin typeface="Georgia"/>
              </a:rPr>
              <a:t>How it was built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Stratified 80/20 train-test split (seeded, no leakage)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5-fold cross-validated model comparison: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F5E5A"/>
                </a:solidFill>
                <a:latin typeface="Calibri"/>
              </a:rPr>
              <a:t>        - </a:t>
            </a:r>
            <a:r>
              <a:rPr sz="1300">
                <a:solidFill>
                  <a:srgbClr val="212121"/>
                </a:solidFill>
                <a:latin typeface="Calibri"/>
              </a:rPr>
              <a:t>Logistic Regression - CV ROC-AUC 0.859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F5E5A"/>
                </a:solidFill>
                <a:latin typeface="Calibri"/>
              </a:rPr>
              <a:t>        - </a:t>
            </a:r>
            <a:r>
              <a:rPr sz="1300">
                <a:solidFill>
                  <a:srgbClr val="212121"/>
                </a:solidFill>
                <a:latin typeface="Calibri"/>
              </a:rPr>
              <a:t>Random Forest (tuned) - CV ROC-AUC 0.861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Preprocessing (one-hot + scaling) fit inside the Pipeline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Tuned with GridSearchCV on ROC-AUC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C587E"/>
                </a:solidFill>
                <a:latin typeface="Calibri"/>
              </a:rPr>
              <a:t>•  </a:t>
            </a:r>
            <a:r>
              <a:rPr sz="1300">
                <a:solidFill>
                  <a:srgbClr val="212121"/>
                </a:solidFill>
                <a:latin typeface="Calibri"/>
              </a:rPr>
              <a:t>Held-out test: ROC-AUC 0.853, churn recall 77% (vs 73.5% baseline)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Q4 · The mailer list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The 500 highest-risk active customers - ready to mail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5029200" cy="429768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20"/>
            <a:ext cx="44348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2C587E"/>
                </a:solidFill>
                <a:latin typeface="Georgia"/>
              </a:rPr>
              <a:t>Top-500 mailer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A47147"/>
                </a:solidFill>
                <a:latin typeface="Calibri"/>
              </a:rPr>
              <a:t>for the marketing team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500 highest-risk active customers, ranked by churn probability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Mean churn risk in the list: 75%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~100 retained at the expected 20% uptake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C587E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~$78k / year revenue protected (illustrative)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100" b="0" i="1">
                <a:solidFill>
                  <a:srgbClr val="5F5E5A"/>
                </a:solidFill>
                <a:latin typeface="Calibri"/>
              </a:rPr>
              <a:t>File: top_500_at_risk.csv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874519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C587E"/>
                </a:solidFill>
                <a:latin typeface="Georgia"/>
              </a:rPr>
              <a:t>Top of the list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2331720"/>
          <a:ext cx="557784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2194560"/>
                <a:gridCol w="914400"/>
                <a:gridCol w="14630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Rank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Customer ID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Risk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Contract</a:t>
                      </a:r>
                    </a:p>
                  </a:txBody>
                  <a:tcPr anchor="ctr" marL="82296" marR="64008" marT="18288" marB="18288">
                    <a:solidFill>
                      <a:srgbClr val="2C587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2545-EBUPK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5542-TBBWB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8161-QYMTT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4927-WWOOZ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C587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1452-VOQCH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Month-to-month</a:t>
                      </a:r>
                    </a:p>
                  </a:txBody>
                  <a:tcPr anchor="ctr" marL="82296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Q4 · The mailer list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DAC3B4"/>
                </a:solidFill>
                <a:latin typeface="Georgia"/>
              </a:rPr>
              <a:t>Question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What is the churn risk of our remaining customers?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AC3B4"/>
                </a:solidFill>
                <a:latin typeface="Calibri"/>
              </a:rPr>
              <a:t>Q5 · Risk scores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A 0-100 risk score and band for every remaining customer</a:t>
            </a:r>
          </a:p>
        </p:txBody>
      </p:sp>
      <p:pic>
        <p:nvPicPr>
          <p:cNvPr id="3" name="Picture 2" descr="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476425" cy="32918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46520" y="1874519"/>
            <a:ext cx="5074920" cy="4343400"/>
          </a:xfrm>
          <a:prstGeom prst="roundRect">
            <a:avLst>
              <a:gd name="adj" fmla="val 8000"/>
            </a:avLst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0" y="2148840"/>
            <a:ext cx="448056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D15115"/>
                </a:solidFill>
                <a:latin typeface="Georgia"/>
              </a:rPr>
              <a:t>Churn risk scores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A47147"/>
                </a:solidFill>
                <a:latin typeface="Calibri"/>
              </a:rPr>
              <a:t>for the customer-service team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All 5,174 active customers scored by the same model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0-100 risk score + Low / Medium / High band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651 High   ·   1,254 Medium   ·   3,269 Low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D15115"/>
                </a:solidFill>
                <a:latin typeface="Calibri"/>
              </a:rPr>
              <a:t>•  </a:t>
            </a:r>
            <a:r>
              <a:rPr sz="1350">
                <a:solidFill>
                  <a:srgbClr val="212121"/>
                </a:solidFill>
                <a:latin typeface="Calibri"/>
              </a:rPr>
              <a:t>Shown on-screen during live calls to prioritise retention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100" b="0" i="1">
                <a:solidFill>
                  <a:srgbClr val="5F5E5A"/>
                </a:solidFill>
                <a:latin typeface="Calibri"/>
              </a:rPr>
              <a:t>File: churn_risk_scores.csv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Q5 · Risk scores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C587E"/>
                </a:solidFill>
                <a:latin typeface="Georgia"/>
              </a:rPr>
              <a:t>Summary and 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949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C587E"/>
                </a:solidFill>
                <a:latin typeface="Georgia"/>
              </a:rPr>
              <a:t>Key findings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C587E"/>
                </a:solidFill>
                <a:latin typeface="Calibri"/>
              </a:rPr>
              <a:t>•  </a:t>
            </a:r>
            <a:r>
              <a:rPr sz="1400">
                <a:solidFill>
                  <a:srgbClr val="212121"/>
                </a:solidFill>
                <a:latin typeface="Calibri"/>
              </a:rPr>
              <a:t>~27% churn, front-loaded and concentrated in month-to-month fibre customers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C587E"/>
                </a:solidFill>
                <a:latin typeface="Calibri"/>
              </a:rPr>
              <a:t>•  </a:t>
            </a:r>
            <a:r>
              <a:rPr sz="1400">
                <a:solidFill>
                  <a:srgbClr val="212121"/>
                </a:solidFill>
                <a:latin typeface="Calibri"/>
              </a:rPr>
              <a:t>They leave for competitors and poor support, not price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C587E"/>
                </a:solidFill>
                <a:latin typeface="Calibri"/>
              </a:rPr>
              <a:t>•  </a:t>
            </a:r>
            <a:r>
              <a:rPr sz="1400">
                <a:solidFill>
                  <a:srgbClr val="212121"/>
                </a:solidFill>
                <a:latin typeface="Calibri"/>
              </a:rPr>
              <a:t>Term contracts and add-ons are the strongest retention levers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C587E"/>
                </a:solidFill>
                <a:latin typeface="Calibri"/>
              </a:rPr>
              <a:t>•  </a:t>
            </a:r>
            <a:r>
              <a:rPr sz="1400">
                <a:solidFill>
                  <a:srgbClr val="212121"/>
                </a:solidFill>
                <a:latin typeface="Calibri"/>
              </a:rPr>
              <a:t>The model reliably scores every customer (test AUC 0.85)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28800"/>
            <a:ext cx="5212080" cy="4389120"/>
          </a:xfrm>
          <a:prstGeom prst="roundRect">
            <a:avLst>
              <a:gd name="adj" fmla="val 8000"/>
            </a:avLst>
          </a:prstGeom>
          <a:solidFill>
            <a:srgbClr val="EA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2103120"/>
            <a:ext cx="4617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C587E"/>
                </a:solidFill>
                <a:latin typeface="Georgia"/>
              </a:rPr>
              <a:t>Recommended actions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D15115"/>
                </a:solidFill>
                <a:latin typeface="Georgia"/>
              </a:rPr>
              <a:t>1.  </a:t>
            </a:r>
            <a:r>
              <a:rPr sz="1400">
                <a:solidFill>
                  <a:srgbClr val="212121"/>
                </a:solidFill>
                <a:latin typeface="Calibri"/>
              </a:rPr>
              <a:t>Launch the Top-500 mailer with an Online Security offer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D15115"/>
                </a:solidFill>
                <a:latin typeface="Georgia"/>
              </a:rPr>
              <a:t>2.  </a:t>
            </a:r>
            <a:r>
              <a:rPr sz="1400">
                <a:solidFill>
                  <a:srgbClr val="212121"/>
                </a:solidFill>
                <a:latin typeface="Calibri"/>
              </a:rPr>
              <a:t>Move month-to-month customers onto term contracts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D15115"/>
                </a:solidFill>
                <a:latin typeface="Georgia"/>
              </a:rPr>
              <a:t>3.  </a:t>
            </a:r>
            <a:r>
              <a:rPr sz="1400">
                <a:solidFill>
                  <a:srgbClr val="212121"/>
                </a:solidFill>
                <a:latin typeface="Calibri"/>
              </a:rPr>
              <a:t>Fix the support experience - a top-3 churn reason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D15115"/>
                </a:solidFill>
                <a:latin typeface="Georgia"/>
              </a:rPr>
              <a:t>4.  </a:t>
            </a:r>
            <a:r>
              <a:rPr sz="1400">
                <a:solidFill>
                  <a:srgbClr val="212121"/>
                </a:solidFill>
                <a:latin typeface="Calibri"/>
              </a:rPr>
              <a:t>Give the service team the risk scores for live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Swan Teleco  ·  Customer retention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6419088"/>
            <a:ext cx="52303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5E5A"/>
                </a:solidFill>
                <a:latin typeface="Calibri"/>
              </a:rPr>
              <a:t>Summary  · 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