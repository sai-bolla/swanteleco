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wan_Telec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327" y="1051560"/>
            <a:ext cx="6035040" cy="3407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4526280"/>
            <a:ext cx="94484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2C587E"/>
                </a:solidFill>
                <a:latin typeface="Georgia"/>
              </a:rPr>
              <a:t>Customer retention: EDA, segmentation &amp; churn modelling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F5E5A"/>
                </a:solidFill>
                <a:latin typeface="Calibri"/>
              </a:rPr>
              <a:t>Answering the retention brief on the single customer view (7,043 customers)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126480"/>
            <a:ext cx="9448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47147"/>
                </a:solidFill>
                <a:latin typeface="Calibri"/>
              </a:rPr>
              <a:t>Technical walkthrough  ·  Retention team  ·  based on eda-and-clustering.ipynb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C587E"/>
                </a:solidFill>
                <a:latin typeface="Georgia"/>
              </a:rPr>
              <a:t>What this deck answers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2C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737360"/>
            <a:ext cx="10241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C587E"/>
                </a:solidFill>
                <a:latin typeface="Georgia"/>
              </a:rPr>
              <a:t>Who churns, and why?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5E5A"/>
                </a:solidFill>
                <a:latin typeface="Calibri"/>
              </a:rPr>
              <a:t>Month-to-month fibre customers with high charges and few add-ons - leaving for competitors and poor support, not price.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2C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880360"/>
            <a:ext cx="10241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C587E"/>
                </a:solidFill>
                <a:latin typeface="Georgia"/>
              </a:rPr>
              <a:t>What keeps customers, and what should we incentivise?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5E5A"/>
                </a:solidFill>
                <a:latin typeface="Calibri"/>
              </a:rPr>
              <a:t>Term contracts and add-ons. Spend the $2.50 budget on Online Security sign-ups.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2C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023360"/>
            <a:ext cx="10241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C587E"/>
                </a:solidFill>
                <a:latin typeface="Georgia"/>
              </a:rPr>
              <a:t>Who should receive the 500 mailers?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5E5A"/>
                </a:solidFill>
                <a:latin typeface="Calibri"/>
              </a:rPr>
              <a:t>A ranked Top-500 at-risk list (mean risk 75%; ~100 retained at the expected 20% uptake).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2C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5166360"/>
            <a:ext cx="10241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C587E"/>
                </a:solidFill>
                <a:latin typeface="Georgia"/>
              </a:rPr>
              <a:t>What is each remaining customer's churn risk?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5E5A"/>
                </a:solidFill>
                <a:latin typeface="Calibri"/>
              </a:rPr>
              <a:t>A 0-100 score + Low/Medium/High band for all 5,174 active customers (Random Forest, test AUC 0.85).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C587E"/>
                </a:solidFill>
                <a:latin typeface="Georgia"/>
              </a:rPr>
              <a:t>Demographics of churners: fibre-heavy, but few protective add-ons</a:t>
            </a:r>
          </a:p>
        </p:txBody>
      </p:sp>
      <p:pic>
        <p:nvPicPr>
          <p:cNvPr id="3" name="Picture 2" descr="product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422810" cy="37490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46520" y="1874519"/>
            <a:ext cx="5074920" cy="438912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48840"/>
            <a:ext cx="44805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C587E"/>
                </a:solidFill>
                <a:latin typeface="Georgia"/>
              </a:rPr>
              <a:t>Profile of a churner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Gender is not a factor (~50/50)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More often senior citizens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Fewer partners and dependents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~88% on month-to-month contracts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Fibre optic + electronic-check payment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Short tenure - churn is front-loaded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C587E"/>
                </a:solidFill>
                <a:latin typeface="Georgia"/>
              </a:rPr>
              <a:t>Customers leave for competitors and over service - not raw price</a:t>
            </a:r>
          </a:p>
        </p:txBody>
      </p:sp>
      <p:pic>
        <p:nvPicPr>
          <p:cNvPr id="3" name="Picture 2" descr="reason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5331229" cy="3383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46520" y="1874519"/>
            <a:ext cx="5074920" cy="4389120"/>
          </a:xfrm>
          <a:prstGeom prst="roundRect">
            <a:avLst>
              <a:gd name="adj" fmla="val 800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48840"/>
            <a:ext cx="44805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D15115"/>
                </a:solidFill>
                <a:latin typeface="Georgia"/>
              </a:rPr>
              <a:t>Why they churn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Competitor offers - speed, data, devices (33%)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Product dissatisfaction (23%)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Support attitude &amp; expertise (20%)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Price / data / speed - only 13%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50" b="1" i="0">
                <a:solidFill>
                  <a:srgbClr val="212121"/>
                </a:solidFill>
                <a:latin typeface="Calibri"/>
              </a:rPr>
              <a:t>The top reasons are addressable: a better offer and better support, not a price war.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2C587E"/>
                </a:solidFill>
                <a:latin typeface="Georgia"/>
              </a:rPr>
              <a:t>A term contract and add-ons keep customers - spend the $2.50 on Online Security</a:t>
            </a:r>
          </a:p>
        </p:txBody>
      </p:sp>
      <p:pic>
        <p:nvPicPr>
          <p:cNvPr id="3" name="Picture 2" descr="retention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5364310" cy="3383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46520" y="1874519"/>
            <a:ext cx="5074920" cy="4389120"/>
          </a:xfrm>
          <a:prstGeom prst="roundRect">
            <a:avLst>
              <a:gd name="adj" fmla="val 800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2148840"/>
            <a:ext cx="44805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D15115"/>
                </a:solidFill>
                <a:latin typeface="Georgia"/>
              </a:rPr>
              <a:t>The $2.50 incentive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Online security cuts churn 42% -&gt; 15% (a 27pp drop)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~3,500 internet customers lack it, churning at ~42%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At $2.50 each, one retained customer (~$777/yr) funds ~300 incentives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50" b="1" i="0">
                <a:solidFill>
                  <a:srgbClr val="212121"/>
                </a:solidFill>
                <a:latin typeface="Calibri"/>
              </a:rPr>
              <a:t>Recommend incentivising Online Security sign-ups (then Tech support).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C587E"/>
                </a:solidFill>
                <a:latin typeface="Georgia"/>
              </a:rPr>
              <a:t>Segmentation confirms a high-risk churner archetype and a retained watchlist</a:t>
            </a:r>
          </a:p>
        </p:txBody>
      </p:sp>
      <p:pic>
        <p:nvPicPr>
          <p:cNvPr id="3" name="Picture 2" descr="churned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5481021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355080" y="1874519"/>
            <a:ext cx="5166360" cy="2103120"/>
          </a:xfrm>
          <a:prstGeom prst="roundRect">
            <a:avLst>
              <a:gd name="adj" fmla="val 800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2103120"/>
            <a:ext cx="45720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D15115"/>
                </a:solidFill>
                <a:latin typeface="Georgia"/>
              </a:rPr>
              <a:t>Churned Cluster 3 - high-risk (51% of churners)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Short tenure, high charges, ~98% month-to-month, fibre optic, almost no add-ons.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4160520"/>
            <a:ext cx="5166360" cy="2103120"/>
          </a:xfrm>
          <a:prstGeom prst="roundRect">
            <a:avLst>
              <a:gd name="adj" fmla="val 8000"/>
            </a:avLst>
          </a:prstGeom>
          <a:solidFill>
            <a:srgbClr val="F3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4389120"/>
            <a:ext cx="45720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47147"/>
                </a:solidFill>
                <a:latin typeface="Georgia"/>
              </a:rPr>
              <a:t>Retained Cluster 1 - the watchlist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Mid tenure, high charges, 72% month-to-month - it mirrors the churners, so it is the clearest target for proactive retention.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2C587E"/>
                </a:solidFill>
                <a:latin typeface="Georgia"/>
              </a:rPr>
              <a:t>A validated churn model: cross-validated, tuned, ROC-AUC 0.85 on held-out data</a:t>
            </a:r>
          </a:p>
        </p:txBody>
      </p:sp>
      <p:pic>
        <p:nvPicPr>
          <p:cNvPr id="3" name="Picture 2" descr="roc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4700448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965960"/>
            <a:ext cx="60350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C587E"/>
                </a:solidFill>
                <a:latin typeface="Georgia"/>
              </a:rPr>
              <a:t>How it was built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Stratified 80/20 train-test split (seeded, no leakage)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5-fold cross-validated model comparison: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F5E5A"/>
                </a:solidFill>
                <a:latin typeface="Calibri"/>
              </a:rPr>
              <a:t>        - </a:t>
            </a:r>
            <a:r>
              <a:rPr sz="1300">
                <a:solidFill>
                  <a:srgbClr val="212121"/>
                </a:solidFill>
                <a:latin typeface="Calibri"/>
              </a:rPr>
              <a:t>Logistic Regression - CV ROC-AUC 0.859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F5E5A"/>
                </a:solidFill>
                <a:latin typeface="Calibri"/>
              </a:rPr>
              <a:t>        - </a:t>
            </a:r>
            <a:r>
              <a:rPr sz="1300">
                <a:solidFill>
                  <a:srgbClr val="212121"/>
                </a:solidFill>
                <a:latin typeface="Calibri"/>
              </a:rPr>
              <a:t>Random Forest (tuned) - CV ROC-AUC 0.861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Preprocessing (one-hot + scaling) fit inside the Pipeline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Tuned with GridSearchCV on ROC-AUC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Held-out test: ROC-AUC 0.853, churn recall 77% (vs 73.5% baseline accuracy)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C587E"/>
                </a:solidFill>
                <a:latin typeface="Georgia"/>
              </a:rPr>
              <a:t>What drives churn risk: contract type, tenure, charges and missing add-ons</a:t>
            </a:r>
          </a:p>
        </p:txBody>
      </p:sp>
      <p:pic>
        <p:nvPicPr>
          <p:cNvPr id="3" name="Picture 2" descr="importance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783080"/>
            <a:ext cx="625209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98932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F5E5A"/>
                </a:solidFill>
                <a:latin typeface="Calibri"/>
              </a:rPr>
              <a:t>The model's top drivers echo the EDA - contract type, tenure, charges, and a lack of online security / tech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C587E"/>
                </a:solidFill>
                <a:latin typeface="Georgia"/>
              </a:rPr>
              <a:t>Two ready-to-use outputs for the marketing and service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5212080" cy="429768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45720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2C587E"/>
                </a:solidFill>
                <a:latin typeface="Georgia"/>
              </a:rPr>
              <a:t>Top-500 mailer list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1">
                <a:solidFill>
                  <a:srgbClr val="A47147"/>
                </a:solidFill>
                <a:latin typeface="Calibri"/>
              </a:rPr>
              <a:t>for the marketing team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500 highest-risk active customers, ranked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Mean churn risk in the list: 75%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~100 retained at the expected 20% uptake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C587E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~$78k / year revenue protected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100" b="0" i="1">
                <a:solidFill>
                  <a:srgbClr val="5F5E5A"/>
                </a:solidFill>
                <a:latin typeface="Calibri"/>
              </a:rPr>
              <a:t>File: top_500_at_risk.csv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212080" cy="4297680"/>
          </a:xfrm>
          <a:prstGeom prst="roundRect">
            <a:avLst>
              <a:gd name="adj" fmla="val 800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2103120"/>
            <a:ext cx="45720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D15115"/>
                </a:solidFill>
                <a:latin typeface="Georgia"/>
              </a:rPr>
              <a:t>Churn risk scores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1">
                <a:solidFill>
                  <a:srgbClr val="A47147"/>
                </a:solidFill>
                <a:latin typeface="Calibri"/>
              </a:rPr>
              <a:t>for the customer-service team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All 5,174 active customers scored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0-100 risk score + Low / Medium / High band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651 High   ·   1,254 Medium   ·   3,269 Low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D15115"/>
                </a:solidFill>
                <a:latin typeface="Calibri"/>
              </a:rPr>
              <a:t>•  </a:t>
            </a:r>
            <a:r>
              <a:rPr sz="1350">
                <a:solidFill>
                  <a:srgbClr val="212121"/>
                </a:solidFill>
                <a:latin typeface="Calibri"/>
              </a:rPr>
              <a:t>Used live on calls to prioritise retention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100" b="0" i="1">
                <a:solidFill>
                  <a:srgbClr val="5F5E5A"/>
                </a:solidFill>
                <a:latin typeface="Calibri"/>
              </a:rPr>
              <a:t>File: churn_risk_scores.csv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C587E"/>
                </a:solidFill>
                <a:latin typeface="Georgia"/>
              </a:rPr>
              <a:t>Summary and 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949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C587E"/>
                </a:solidFill>
                <a:latin typeface="Georgia"/>
              </a:rPr>
              <a:t>Key findings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587E"/>
                </a:solidFill>
                <a:latin typeface="Calibri"/>
              </a:rPr>
              <a:t>•  </a:t>
            </a:r>
            <a:r>
              <a:rPr sz="1400">
                <a:solidFill>
                  <a:srgbClr val="212121"/>
                </a:solidFill>
                <a:latin typeface="Calibri"/>
              </a:rPr>
              <a:t>~27% churn, front-loaded and concentrated in month-to-month fibre customers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587E"/>
                </a:solidFill>
                <a:latin typeface="Calibri"/>
              </a:rPr>
              <a:t>•  </a:t>
            </a:r>
            <a:r>
              <a:rPr sz="1400">
                <a:solidFill>
                  <a:srgbClr val="212121"/>
                </a:solidFill>
                <a:latin typeface="Calibri"/>
              </a:rPr>
              <a:t>They leave for competitors and poor support, not price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587E"/>
                </a:solidFill>
                <a:latin typeface="Calibri"/>
              </a:rPr>
              <a:t>•  </a:t>
            </a:r>
            <a:r>
              <a:rPr sz="1400">
                <a:solidFill>
                  <a:srgbClr val="212121"/>
                </a:solidFill>
                <a:latin typeface="Calibri"/>
              </a:rPr>
              <a:t>Term contracts and add-ons are the strongest retention levers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587E"/>
                </a:solidFill>
                <a:latin typeface="Calibri"/>
              </a:rPr>
              <a:t>•  </a:t>
            </a:r>
            <a:r>
              <a:rPr sz="1400">
                <a:solidFill>
                  <a:srgbClr val="212121"/>
                </a:solidFill>
                <a:latin typeface="Calibri"/>
              </a:rPr>
              <a:t>The model reliably scores every customer (test AUC 0.85)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212080" cy="438912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29400" y="2103120"/>
            <a:ext cx="46177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C587E"/>
                </a:solidFill>
                <a:latin typeface="Georgia"/>
              </a:rPr>
              <a:t>Recommended actions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D15115"/>
                </a:solidFill>
                <a:latin typeface="Georgia"/>
              </a:rPr>
              <a:t>1.  </a:t>
            </a:r>
            <a:r>
              <a:rPr sz="1400">
                <a:solidFill>
                  <a:srgbClr val="212121"/>
                </a:solidFill>
                <a:latin typeface="Calibri"/>
              </a:rPr>
              <a:t>Launch the Top-500 mailer with an Online Security offer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D15115"/>
                </a:solidFill>
                <a:latin typeface="Georgia"/>
              </a:rPr>
              <a:t>2.  </a:t>
            </a:r>
            <a:r>
              <a:rPr sz="1400">
                <a:solidFill>
                  <a:srgbClr val="212121"/>
                </a:solidFill>
                <a:latin typeface="Calibri"/>
              </a:rPr>
              <a:t>Move month-to-month customers onto term contracts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D15115"/>
                </a:solidFill>
                <a:latin typeface="Georgia"/>
              </a:rPr>
              <a:t>3.  </a:t>
            </a:r>
            <a:r>
              <a:rPr sz="1400">
                <a:solidFill>
                  <a:srgbClr val="212121"/>
                </a:solidFill>
                <a:latin typeface="Calibri"/>
              </a:rPr>
              <a:t>Fix the support experience - a top-3 churn reason</a:t>
            </a:r>
          </a:p>
          <a:p>
            <a:pPr>
              <a:spcAft>
                <a:spcPts val="1100"/>
              </a:spcAft>
            </a:pPr>
            <a:r>
              <a:rPr sz="1400" b="1">
                <a:solidFill>
                  <a:srgbClr val="D15115"/>
                </a:solidFill>
                <a:latin typeface="Georgia"/>
              </a:rPr>
              <a:t>4.  </a:t>
            </a:r>
            <a:r>
              <a:rPr sz="1400">
                <a:solidFill>
                  <a:srgbClr val="212121"/>
                </a:solidFill>
                <a:latin typeface="Calibri"/>
              </a:rPr>
              <a:t>Give the service team the risk scores for live calls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