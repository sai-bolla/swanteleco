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0" r:id="rId1"/>
    <p:sldMasterId id="2147483671" r:id="rId2"/>
  </p:sldMasterIdLst>
  <p:notesMasterIdLst>
    <p:notesMasterId r:id="rId26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CF64FCD-972A-4641-A23A-824053B4A756}">
  <a:tblStyle styleId="{9CF64FCD-972A-4641-A23A-824053B4A75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90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 Kelly" userId="683a1464910400a6" providerId="LiveId" clId="{3091C25F-49E9-4F8B-BFAB-267D9B971031}"/>
    <pc:docChg chg="modSld">
      <pc:chgData name="Ben Kelly" userId="683a1464910400a6" providerId="LiveId" clId="{3091C25F-49E9-4F8B-BFAB-267D9B971031}" dt="2026-07-31T14:26:21.173" v="11" actId="20577"/>
      <pc:docMkLst>
        <pc:docMk/>
      </pc:docMkLst>
      <pc:sldChg chg="modSp mod">
        <pc:chgData name="Ben Kelly" userId="683a1464910400a6" providerId="LiveId" clId="{3091C25F-49E9-4F8B-BFAB-267D9B971031}" dt="2026-07-31T14:26:21.173" v="11" actId="20577"/>
        <pc:sldMkLst>
          <pc:docMk/>
          <pc:sldMk cId="0" sldId="256"/>
        </pc:sldMkLst>
        <pc:spChg chg="mod">
          <ac:chgData name="Ben Kelly" userId="683a1464910400a6" providerId="LiveId" clId="{3091C25F-49E9-4F8B-BFAB-267D9B971031}" dt="2026-07-31T14:26:21.173" v="11" actId="20577"/>
          <ac:spMkLst>
            <pc:docMk/>
            <pc:sldMk cId="0" sldId="256"/>
            <ac:spMk id="130" creationId="{00000000-0000-0000-0000-000000000000}"/>
          </ac:spMkLst>
        </pc:spChg>
      </pc:sldChg>
      <pc:sldChg chg="modSp mod">
        <pc:chgData name="Ben Kelly" userId="683a1464910400a6" providerId="LiveId" clId="{3091C25F-49E9-4F8B-BFAB-267D9B971031}" dt="2026-07-31T14:24:31.229" v="1" actId="20577"/>
        <pc:sldMkLst>
          <pc:docMk/>
          <pc:sldMk cId="0" sldId="264"/>
        </pc:sldMkLst>
        <pc:graphicFrameChg chg="modGraphic">
          <ac:chgData name="Ben Kelly" userId="683a1464910400a6" providerId="LiveId" clId="{3091C25F-49E9-4F8B-BFAB-267D9B971031}" dt="2026-07-31T14:24:31.229" v="1" actId="20577"/>
          <ac:graphicFrameMkLst>
            <pc:docMk/>
            <pc:sldMk cId="0" sldId="264"/>
            <ac:graphicFrameMk id="198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8b8972c69d_1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g38b8972c69d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8b8972c69d_1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g38b8972c69d_1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164" y="685800"/>
            <a:ext cx="4572347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8b8972c69d_1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g38b8972c69d_1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8b8972c69d_1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8b8972c69d_1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164" y="685800"/>
            <a:ext cx="4572347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8b8972c69d_1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g38b8972c69d_1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164" y="685800"/>
            <a:ext cx="4572347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8b8972c69d_1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g38b8972c69d_1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164" y="685800"/>
            <a:ext cx="4572347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8b8972c69d_1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g38b8972c69d_1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164" y="685800"/>
            <a:ext cx="4572347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8b8972c69d_1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38b8972c69d_1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164" y="685800"/>
            <a:ext cx="4572347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8b8972c69d_1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g38b8972c69d_1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8b8972c69d_1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g38b8972c69d_1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164" y="685800"/>
            <a:ext cx="4572347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8b8972c69d_1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g38b8972c69d_1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164" y="685800"/>
            <a:ext cx="4572347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8b8972c69d_1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g38b8972c69d_1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164" y="685800"/>
            <a:ext cx="4572347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8b8972c69d_1_1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g38b8972c69d_1_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164" y="685800"/>
            <a:ext cx="4572347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8b8972c69d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g38b8972c69d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164" y="685800"/>
            <a:ext cx="4572347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8b8972c69d_1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g38b8972c69d_1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164" y="685800"/>
            <a:ext cx="4572347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8b8972c69d_1_1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g38b8972c69d_1_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164" y="685800"/>
            <a:ext cx="4572347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8b8972c69d_1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g38b8972c69d_1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164" y="685800"/>
            <a:ext cx="4572347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8b8972c69d_1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g38b8972c69d_1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164" y="685800"/>
            <a:ext cx="4572347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8b8972c69d_1_2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g38b8972c69d_1_2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164" y="685800"/>
            <a:ext cx="4572347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8b8972c69d_1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g38b8972c69d_1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8b8972c69d_1_2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g38b8972c69d_1_2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164" y="685800"/>
            <a:ext cx="4572347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8b8972c69d_1_2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g38b8972c69d_1_2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164" y="685800"/>
            <a:ext cx="4572347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8b8972c69d_1_2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g38b8972c69d_1_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164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dt" idx="10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ftr" idx="11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ldNum" idx="12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ctrTitle"/>
          </p:nvPr>
        </p:nvSpPr>
        <p:spPr>
          <a:xfrm>
            <a:off x="514364" y="1597819"/>
            <a:ext cx="5829455" cy="1102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subTitle" idx="1"/>
          </p:nvPr>
        </p:nvSpPr>
        <p:spPr>
          <a:xfrm>
            <a:off x="1028727" y="2914650"/>
            <a:ext cx="4800728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dt" idx="10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ftr" idx="11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sldNum" idx="12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>
            <a:spLocks noGrp="1"/>
          </p:cNvSpPr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body" idx="1"/>
          </p:nvPr>
        </p:nvSpPr>
        <p:spPr>
          <a:xfrm>
            <a:off x="342909" y="1200150"/>
            <a:ext cx="6172365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marL="1371600" lvl="2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marL="2743200" lvl="5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dt" idx="10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ftr" idx="11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541749" y="3305175"/>
            <a:ext cx="5829455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sz="3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body" idx="1"/>
          </p:nvPr>
        </p:nvSpPr>
        <p:spPr>
          <a:xfrm>
            <a:off x="541749" y="2180035"/>
            <a:ext cx="5829455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dt" idx="10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ftr" idx="11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sldNum" idx="12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>
            <a:spLocks noGrp="1"/>
          </p:cNvSpPr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body" idx="1"/>
          </p:nvPr>
        </p:nvSpPr>
        <p:spPr>
          <a:xfrm>
            <a:off x="342909" y="1200150"/>
            <a:ext cx="3029031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marL="914400" lvl="1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marL="1828800" lvl="3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marL="2743200" lvl="5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marL="3200400" lvl="6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marL="3657600" lvl="7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marL="4114800" lvl="8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body" idx="2"/>
          </p:nvPr>
        </p:nvSpPr>
        <p:spPr>
          <a:xfrm>
            <a:off x="3486243" y="1200150"/>
            <a:ext cx="3029031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marL="914400" lvl="1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marL="1828800" lvl="3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marL="2743200" lvl="5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marL="3200400" lvl="6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marL="3657600" lvl="7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marL="4114800" lvl="8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dt" idx="10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ftr" idx="11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sldNum" idx="12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>
            <a:spLocks noGrp="1"/>
          </p:cNvSpPr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9"/>
          <p:cNvSpPr txBox="1">
            <a:spLocks noGrp="1"/>
          </p:cNvSpPr>
          <p:nvPr>
            <p:ph type="body" idx="1"/>
          </p:nvPr>
        </p:nvSpPr>
        <p:spPr>
          <a:xfrm>
            <a:off x="342909" y="1151335"/>
            <a:ext cx="3030222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2"/>
          </p:nvPr>
        </p:nvSpPr>
        <p:spPr>
          <a:xfrm>
            <a:off x="342909" y="1631156"/>
            <a:ext cx="3030222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marL="1371600" lvl="2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marL="2286000" lvl="4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marL="2743200" lvl="5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body" idx="3"/>
          </p:nvPr>
        </p:nvSpPr>
        <p:spPr>
          <a:xfrm>
            <a:off x="3483862" y="1151335"/>
            <a:ext cx="3031412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90" name="Google Shape;90;p19"/>
          <p:cNvSpPr txBox="1">
            <a:spLocks noGrp="1"/>
          </p:cNvSpPr>
          <p:nvPr>
            <p:ph type="body" idx="4"/>
          </p:nvPr>
        </p:nvSpPr>
        <p:spPr>
          <a:xfrm>
            <a:off x="3483862" y="1631156"/>
            <a:ext cx="3031412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marL="1371600" lvl="2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marL="2286000" lvl="4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marL="2743200" lvl="5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91" name="Google Shape;91;p19"/>
          <p:cNvSpPr txBox="1">
            <a:spLocks noGrp="1"/>
          </p:cNvSpPr>
          <p:nvPr>
            <p:ph type="dt" idx="10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9"/>
          <p:cNvSpPr txBox="1">
            <a:spLocks noGrp="1"/>
          </p:cNvSpPr>
          <p:nvPr>
            <p:ph type="ftr" idx="11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sldNum" idx="12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>
            <a:spLocks noGrp="1"/>
          </p:cNvSpPr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20"/>
          <p:cNvSpPr txBox="1">
            <a:spLocks noGrp="1"/>
          </p:cNvSpPr>
          <p:nvPr>
            <p:ph type="dt" idx="10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0"/>
          <p:cNvSpPr txBox="1">
            <a:spLocks noGrp="1"/>
          </p:cNvSpPr>
          <p:nvPr>
            <p:ph type="ftr" idx="11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sldNum" idx="12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>
            <a:spLocks noGrp="1"/>
          </p:cNvSpPr>
          <p:nvPr>
            <p:ph type="title"/>
          </p:nvPr>
        </p:nvSpPr>
        <p:spPr>
          <a:xfrm>
            <a:off x="342909" y="204788"/>
            <a:ext cx="2256295" cy="871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sz="1500" b="1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21"/>
          <p:cNvSpPr txBox="1">
            <a:spLocks noGrp="1"/>
          </p:cNvSpPr>
          <p:nvPr>
            <p:ph type="body" idx="1"/>
          </p:nvPr>
        </p:nvSpPr>
        <p:spPr>
          <a:xfrm>
            <a:off x="2681359" y="204788"/>
            <a:ext cx="3833915" cy="4389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marL="1371600" lvl="2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marL="2286000" lvl="4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marL="2743200" lvl="5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342909" y="1076325"/>
            <a:ext cx="2256295" cy="3518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marL="914400" lvl="1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marL="1828800" lvl="3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marL="2286000" lvl="4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marL="2743200" lvl="5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marL="3200400" lvl="6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marL="3657600" lvl="7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marL="4114800" lvl="8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dt" idx="10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1"/>
          <p:cNvSpPr txBox="1">
            <a:spLocks noGrp="1"/>
          </p:cNvSpPr>
          <p:nvPr>
            <p:ph type="ftr" idx="11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1"/>
          <p:cNvSpPr txBox="1">
            <a:spLocks noGrp="1"/>
          </p:cNvSpPr>
          <p:nvPr>
            <p:ph type="sldNum" idx="12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>
            <a:spLocks noGrp="1"/>
          </p:cNvSpPr>
          <p:nvPr>
            <p:ph type="title"/>
          </p:nvPr>
        </p:nvSpPr>
        <p:spPr>
          <a:xfrm>
            <a:off x="1344252" y="3600450"/>
            <a:ext cx="4114910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sz="1500" b="1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2"/>
          <p:cNvSpPr>
            <a:spLocks noGrp="1"/>
          </p:cNvSpPr>
          <p:nvPr>
            <p:ph type="pic" idx="2"/>
          </p:nvPr>
        </p:nvSpPr>
        <p:spPr>
          <a:xfrm>
            <a:off x="1344252" y="459581"/>
            <a:ext cx="411491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>
            <a:spLocks noGrp="1"/>
          </p:cNvSpPr>
          <p:nvPr>
            <p:ph type="body" idx="1"/>
          </p:nvPr>
        </p:nvSpPr>
        <p:spPr>
          <a:xfrm>
            <a:off x="1344252" y="4025503"/>
            <a:ext cx="4114910" cy="603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marL="914400" lvl="1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marL="1828800" lvl="3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marL="2286000" lvl="4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marL="2743200" lvl="5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marL="3200400" lvl="6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marL="3657600" lvl="7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marL="4114800" lvl="8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dt" idx="10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ftr" idx="11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sldNum" idx="12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>
            <a:spLocks noGrp="1"/>
          </p:cNvSpPr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3"/>
          <p:cNvSpPr txBox="1">
            <a:spLocks noGrp="1"/>
          </p:cNvSpPr>
          <p:nvPr>
            <p:ph type="body" idx="1"/>
          </p:nvPr>
        </p:nvSpPr>
        <p:spPr>
          <a:xfrm rot="5400000">
            <a:off x="1731855" y="-188796"/>
            <a:ext cx="3394472" cy="6172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marL="1371600" lvl="2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marL="2743200" lvl="5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16" name="Google Shape;116;p23"/>
          <p:cNvSpPr txBox="1">
            <a:spLocks noGrp="1"/>
          </p:cNvSpPr>
          <p:nvPr>
            <p:ph type="dt" idx="10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3"/>
          <p:cNvSpPr txBox="1">
            <a:spLocks noGrp="1"/>
          </p:cNvSpPr>
          <p:nvPr>
            <p:ph type="ftr" idx="11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3"/>
          <p:cNvSpPr txBox="1">
            <a:spLocks noGrp="1"/>
          </p:cNvSpPr>
          <p:nvPr>
            <p:ph type="sldNum" idx="12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>
            <a:spLocks noGrp="1"/>
          </p:cNvSpPr>
          <p:nvPr>
            <p:ph type="title"/>
          </p:nvPr>
        </p:nvSpPr>
        <p:spPr>
          <a:xfrm rot="5400000">
            <a:off x="3549406" y="1628755"/>
            <a:ext cx="4388644" cy="1543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4"/>
          <p:cNvSpPr txBox="1">
            <a:spLocks noGrp="1"/>
          </p:cNvSpPr>
          <p:nvPr>
            <p:ph type="body" idx="1"/>
          </p:nvPr>
        </p:nvSpPr>
        <p:spPr>
          <a:xfrm rot="5400000">
            <a:off x="406072" y="142815"/>
            <a:ext cx="4388644" cy="4514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marL="1371600" lvl="2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marL="2743200" lvl="5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22" name="Google Shape;122;p24"/>
          <p:cNvSpPr txBox="1">
            <a:spLocks noGrp="1"/>
          </p:cNvSpPr>
          <p:nvPr>
            <p:ph type="dt" idx="10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4"/>
          <p:cNvSpPr txBox="1">
            <a:spLocks noGrp="1"/>
          </p:cNvSpPr>
          <p:nvPr>
            <p:ph type="ftr" idx="11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24"/>
          <p:cNvSpPr txBox="1">
            <a:spLocks noGrp="1"/>
          </p:cNvSpPr>
          <p:nvPr>
            <p:ph type="sldNum" idx="12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42909" y="1200150"/>
            <a:ext cx="6172365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81000" algn="l" rtl="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619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25" descr="Swan_Teleco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08807" y="788670"/>
            <a:ext cx="4526280" cy="2555655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5"/>
          <p:cNvSpPr txBox="1"/>
          <p:nvPr/>
        </p:nvSpPr>
        <p:spPr>
          <a:xfrm>
            <a:off x="1028727" y="3394710"/>
            <a:ext cx="70866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 b="1" i="0" u="none" strike="noStrike" cap="none" dirty="0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Customer </a:t>
            </a:r>
            <a:r>
              <a:rPr lang="en-GB" sz="2300" b="1" dirty="0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R</a:t>
            </a:r>
            <a:r>
              <a:rPr lang="en-GB" sz="2300" b="1" i="0" u="none" strike="noStrike" cap="none" dirty="0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etention: EDA, </a:t>
            </a:r>
            <a:r>
              <a:rPr lang="en-GB" sz="2300" b="1" dirty="0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S</a:t>
            </a:r>
            <a:r>
              <a:rPr lang="en-GB" sz="2300" b="1" i="0" u="none" strike="noStrike" cap="none" dirty="0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egmentation &amp; </a:t>
            </a:r>
            <a:r>
              <a:rPr lang="en-GB" sz="2300" b="1" dirty="0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r>
              <a:rPr lang="en-GB" sz="2300" b="1" i="0" u="none" strike="noStrike" cap="none" dirty="0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hurn </a:t>
            </a:r>
            <a:r>
              <a:rPr lang="en-GB" sz="2300" b="1" dirty="0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M</a:t>
            </a:r>
            <a:r>
              <a:rPr lang="en-GB" sz="2300" b="1" i="0" u="none" strike="noStrike" cap="none" dirty="0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odelling</a:t>
            </a:r>
            <a:endParaRPr sz="1100" dirty="0"/>
          </a:p>
          <a:p>
            <a:pPr marL="0" marR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200" i="0" u="none" strike="noStrike" cap="none" dirty="0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Answering the Retention </a:t>
            </a:r>
            <a:r>
              <a:rPr lang="en-GB" sz="1200" dirty="0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B</a:t>
            </a:r>
            <a:r>
              <a:rPr lang="en-GB" sz="1200" i="0" u="none" strike="noStrike" cap="none" dirty="0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rief on the Single </a:t>
            </a:r>
            <a:r>
              <a:rPr lang="en-GB" sz="1200" dirty="0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r>
              <a:rPr lang="en-GB" sz="1200" i="0" u="none" strike="noStrike" cap="none" dirty="0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ustomer </a:t>
            </a:r>
            <a:r>
              <a:rPr lang="en-GB" sz="1200" dirty="0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V</a:t>
            </a:r>
            <a:r>
              <a:rPr lang="en-GB" sz="1200" i="0" u="none" strike="noStrike" cap="none" dirty="0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iew (7,043 customers)</a:t>
            </a:r>
            <a:endParaRPr sz="1100" dirty="0"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31" name="Google Shape;131;p25"/>
          <p:cNvSpPr txBox="1"/>
          <p:nvPr/>
        </p:nvSpPr>
        <p:spPr>
          <a:xfrm>
            <a:off x="1028727" y="4594860"/>
            <a:ext cx="70866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i="0" u="none" strike="noStrike" cap="none">
                <a:solidFill>
                  <a:srgbClr val="A47147"/>
                </a:solidFill>
                <a:latin typeface="Georgia"/>
                <a:ea typeface="Georgia"/>
                <a:cs typeface="Georgia"/>
                <a:sym typeface="Georgia"/>
              </a:rPr>
              <a:t>Technical walkthrough  ·  Retention team</a:t>
            </a:r>
            <a:r>
              <a:rPr lang="en-GB" sz="900" b="0" i="0" u="none" strike="noStrike" cap="none">
                <a:solidFill>
                  <a:srgbClr val="A4714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6"/>
          <p:cNvSpPr txBox="1"/>
          <p:nvPr/>
        </p:nvSpPr>
        <p:spPr>
          <a:xfrm>
            <a:off x="480073" y="377190"/>
            <a:ext cx="8229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The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R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etention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B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rief in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F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ive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Q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uestions</a:t>
            </a:r>
            <a:endParaRPr sz="1100"/>
          </a:p>
        </p:txBody>
      </p:sp>
      <p:sp>
        <p:nvSpPr>
          <p:cNvPr id="137" name="Google Shape;137;p26"/>
          <p:cNvSpPr/>
          <p:nvPr/>
        </p:nvSpPr>
        <p:spPr>
          <a:xfrm>
            <a:off x="480073" y="1200150"/>
            <a:ext cx="315476" cy="315468"/>
          </a:xfrm>
          <a:prstGeom prst="ellipse">
            <a:avLst/>
          </a:prstGeom>
          <a:solidFill>
            <a:srgbClr val="2C587E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 sz="1100"/>
          </a:p>
        </p:txBody>
      </p:sp>
      <p:sp>
        <p:nvSpPr>
          <p:cNvPr id="138" name="Google Shape;138;p26"/>
          <p:cNvSpPr txBox="1"/>
          <p:nvPr/>
        </p:nvSpPr>
        <p:spPr>
          <a:xfrm>
            <a:off x="960146" y="1159002"/>
            <a:ext cx="7749600" cy="36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What do churners look like, and what products do they have?</a:t>
            </a:r>
            <a:endParaRPr sz="11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Fibre-heavy with high charges and few add-ons; more often senior and single. Gender is not a factor.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39" name="Google Shape;139;p26"/>
          <p:cNvSpPr/>
          <p:nvPr/>
        </p:nvSpPr>
        <p:spPr>
          <a:xfrm>
            <a:off x="480073" y="1920240"/>
            <a:ext cx="315476" cy="315468"/>
          </a:xfrm>
          <a:prstGeom prst="ellipse">
            <a:avLst/>
          </a:prstGeom>
          <a:solidFill>
            <a:srgbClr val="2C587E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 sz="1100"/>
          </a:p>
        </p:txBody>
      </p:sp>
      <p:sp>
        <p:nvSpPr>
          <p:cNvPr id="140" name="Google Shape;140;p26"/>
          <p:cNvSpPr txBox="1"/>
          <p:nvPr/>
        </p:nvSpPr>
        <p:spPr>
          <a:xfrm>
            <a:off x="960146" y="1879092"/>
            <a:ext cx="7749600" cy="36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Why are they churning?</a:t>
            </a:r>
            <a:endParaRPr sz="11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Mostly competitor offers and poor service - not raw price.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41" name="Google Shape;141;p26"/>
          <p:cNvSpPr/>
          <p:nvPr/>
        </p:nvSpPr>
        <p:spPr>
          <a:xfrm>
            <a:off x="480073" y="2640329"/>
            <a:ext cx="315476" cy="315468"/>
          </a:xfrm>
          <a:prstGeom prst="ellipse">
            <a:avLst/>
          </a:prstGeom>
          <a:solidFill>
            <a:srgbClr val="2C587E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sz="1100"/>
          </a:p>
        </p:txBody>
      </p:sp>
      <p:sp>
        <p:nvSpPr>
          <p:cNvPr id="142" name="Google Shape;142;p26"/>
          <p:cNvSpPr txBox="1"/>
          <p:nvPr/>
        </p:nvSpPr>
        <p:spPr>
          <a:xfrm>
            <a:off x="960146" y="2599181"/>
            <a:ext cx="7749600" cy="36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What makes customers stay, and what should we incentivise?</a:t>
            </a:r>
            <a:endParaRPr sz="11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Term contracts and add-ons. </a:t>
            </a:r>
            <a:r>
              <a:rPr lang="en-GB" sz="1000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Allocate the $2.50 employee incentive</a:t>
            </a:r>
            <a:r>
              <a:rPr lang="en-GB" sz="1000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n-GB" sz="1000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to</a:t>
            </a:r>
            <a:r>
              <a:rPr lang="en-GB" sz="1000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n-GB" sz="1000" b="1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Online Security sign-ups</a:t>
            </a:r>
            <a:r>
              <a:rPr lang="en-GB" sz="1000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.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43" name="Google Shape;143;p26"/>
          <p:cNvSpPr/>
          <p:nvPr/>
        </p:nvSpPr>
        <p:spPr>
          <a:xfrm>
            <a:off x="480073" y="3360419"/>
            <a:ext cx="315476" cy="315468"/>
          </a:xfrm>
          <a:prstGeom prst="ellipse">
            <a:avLst/>
          </a:prstGeom>
          <a:solidFill>
            <a:srgbClr val="2C587E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4</a:t>
            </a:r>
            <a:endParaRPr sz="1100"/>
          </a:p>
        </p:txBody>
      </p:sp>
      <p:sp>
        <p:nvSpPr>
          <p:cNvPr id="144" name="Google Shape;144;p26"/>
          <p:cNvSpPr txBox="1"/>
          <p:nvPr/>
        </p:nvSpPr>
        <p:spPr>
          <a:xfrm>
            <a:off x="960146" y="3319272"/>
            <a:ext cx="7749600" cy="36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Which 500 customers should get the retention mailer?</a:t>
            </a:r>
            <a:endParaRPr sz="11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A ranked Top-500 at-risk list (mean risk 75%; ~100 retained at the expected 20% uptake).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45" name="Google Shape;145;p26"/>
          <p:cNvSpPr/>
          <p:nvPr/>
        </p:nvSpPr>
        <p:spPr>
          <a:xfrm>
            <a:off x="480073" y="4080509"/>
            <a:ext cx="315476" cy="315468"/>
          </a:xfrm>
          <a:prstGeom prst="ellipse">
            <a:avLst/>
          </a:prstGeom>
          <a:solidFill>
            <a:srgbClr val="2C587E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5</a:t>
            </a:r>
            <a:endParaRPr sz="1100"/>
          </a:p>
        </p:txBody>
      </p:sp>
      <p:sp>
        <p:nvSpPr>
          <p:cNvPr id="146" name="Google Shape;146;p26"/>
          <p:cNvSpPr txBox="1"/>
          <p:nvPr/>
        </p:nvSpPr>
        <p:spPr>
          <a:xfrm>
            <a:off x="960146" y="4039362"/>
            <a:ext cx="7749600" cy="36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What is the churn risk of our remaining customers?</a:t>
            </a:r>
            <a:endParaRPr sz="11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A 0-100 score </a:t>
            </a:r>
            <a:r>
              <a:rPr lang="en-GB" sz="1000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&amp;</a:t>
            </a:r>
            <a:r>
              <a:rPr lang="en-GB" sz="1000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 Low/Medium/High band for all 5,174 active customers.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7"/>
          <p:cNvSpPr txBox="1"/>
          <p:nvPr/>
        </p:nvSpPr>
        <p:spPr>
          <a:xfrm>
            <a:off x="480073" y="377190"/>
            <a:ext cx="8229900" cy="5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The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D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ata: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A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S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ingle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ustomer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V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iew of Swan Teleco's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ustomers</a:t>
            </a:r>
            <a:endParaRPr sz="1100"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7,043 customers  ·  31 columns  ·  all in California  ·  one quarter of activity  ·  26.5% churned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</p:txBody>
      </p:sp>
      <p:graphicFrame>
        <p:nvGraphicFramePr>
          <p:cNvPr id="152" name="Google Shape;152;p27"/>
          <p:cNvGraphicFramePr/>
          <p:nvPr/>
        </p:nvGraphicFramePr>
        <p:xfrm>
          <a:off x="514364" y="1474470"/>
          <a:ext cx="8126900" cy="3085950"/>
        </p:xfrm>
        <a:graphic>
          <a:graphicData uri="http://schemas.openxmlformats.org/drawingml/2006/table">
            <a:tbl>
              <a:tblPr>
                <a:noFill/>
                <a:tableStyleId>{9CF64FCD-972A-4641-A23A-824053B4A756}</a:tableStyleId>
              </a:tblPr>
              <a:tblGrid>
                <a:gridCol w="1714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9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 u="none" strike="noStrike" cap="none">
                          <a:solidFill>
                            <a:srgbClr val="FFFFFF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Group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2C58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solidFill>
                            <a:srgbClr val="FFFFFF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Fields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2C58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solidFill>
                            <a:srgbClr val="FFFFFF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Type / note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2C58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Identifiers &amp; location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CustomerID, City, Zip Code, Lat Long, Latitude, Longitude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PII - kept out of the model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Demographics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Gender, Senior Citizen, Partner, Dependents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Categorical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Services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Phone Service, Multiple Lines, Internet Service, Online Security, Online Backup, Device Protection, Tech Support, Streaming TV, Streaming Movies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Categorical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Account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Tenure Months, Contract, Paperless Billing, Payment Method, Monthly Charges, Total Charges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Numeric + categorical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Target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Churn Value (0/1), Churn Label, Churn Reason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Outcome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Constant (dropped)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Count, Country, State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Single value - no signal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8"/>
          <p:cNvSpPr txBox="1"/>
          <p:nvPr/>
        </p:nvSpPr>
        <p:spPr>
          <a:xfrm>
            <a:off x="480073" y="377190"/>
            <a:ext cx="8229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Data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leaning and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F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eature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P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reparation</a:t>
            </a:r>
            <a:endParaRPr sz="1100"/>
          </a:p>
        </p:txBody>
      </p:sp>
      <p:sp>
        <p:nvSpPr>
          <p:cNvPr id="158" name="Google Shape;158;p28"/>
          <p:cNvSpPr/>
          <p:nvPr/>
        </p:nvSpPr>
        <p:spPr>
          <a:xfrm>
            <a:off x="480073" y="1337310"/>
            <a:ext cx="3943455" cy="3394710"/>
          </a:xfrm>
          <a:prstGeom prst="roundRect">
            <a:avLst>
              <a:gd name="adj" fmla="val 8000"/>
            </a:avLst>
          </a:prstGeom>
          <a:solidFill>
            <a:srgbClr val="EAF0F5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8"/>
          <p:cNvSpPr txBox="1"/>
          <p:nvPr/>
        </p:nvSpPr>
        <p:spPr>
          <a:xfrm>
            <a:off x="720109" y="1543050"/>
            <a:ext cx="3497700" cy="16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Cleaning &amp; </a:t>
            </a:r>
            <a:r>
              <a:rPr lang="en-GB" sz="12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D</a:t>
            </a:r>
            <a:r>
              <a:rPr lang="en-GB" sz="12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ata </a:t>
            </a:r>
            <a:r>
              <a:rPr lang="en-GB" sz="12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Q</a:t>
            </a:r>
            <a:r>
              <a:rPr lang="en-GB" sz="12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uality</a:t>
            </a:r>
            <a:endParaRPr sz="1200" b="1" i="0" u="none" strike="noStrike" cap="none">
              <a:solidFill>
                <a:srgbClr val="2C587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2C587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Total Charges: 11 blank values (new customers, tenure </a:t>
            </a:r>
            <a:r>
              <a:rPr lang="en-GB" sz="1000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of 1 month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). The blanks were set to 0</a:t>
            </a:r>
            <a:r>
              <a:rPr lang="en-GB" sz="1000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 and cast to a float.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7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Churn Reason: 73% null by design - only churners have one; kept, never imputed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7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No duplicate customers found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7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Every row validated against a Pydantic schema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60" name="Google Shape;160;p28"/>
          <p:cNvSpPr/>
          <p:nvPr/>
        </p:nvSpPr>
        <p:spPr>
          <a:xfrm>
            <a:off x="4697855" y="1337310"/>
            <a:ext cx="3943455" cy="3394710"/>
          </a:xfrm>
          <a:prstGeom prst="roundRect">
            <a:avLst>
              <a:gd name="adj" fmla="val 8000"/>
            </a:avLst>
          </a:prstGeom>
          <a:solidFill>
            <a:srgbClr val="FBEAE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28"/>
          <p:cNvSpPr txBox="1"/>
          <p:nvPr/>
        </p:nvSpPr>
        <p:spPr>
          <a:xfrm>
            <a:off x="4937892" y="1543050"/>
            <a:ext cx="3497700" cy="19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Feature</a:t>
            </a:r>
            <a:r>
              <a:rPr lang="en-GB" sz="1200" b="1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 Engineering &amp; Selection</a:t>
            </a:r>
            <a:endParaRPr sz="1200" b="1" i="0" u="none" strike="noStrike" cap="none">
              <a:solidFill>
                <a:srgbClr val="D15115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D15115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Categoricals one-hot encoded; numerics standardised - inside a leak-free Pipeline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Removed from the feature set, and why: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9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   -  </a:t>
            </a:r>
            <a:r>
              <a:rPr lang="en-GB" sz="9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IDs &amp; location (CustomerID, City, Zip, Lat/Long) - identifiable, not predictive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GB" sz="9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   -  </a:t>
            </a:r>
            <a:r>
              <a:rPr lang="en-GB" sz="9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Churn Reason - only known after a customer churns (leakage)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GB" sz="9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   -  </a:t>
            </a:r>
            <a:r>
              <a:rPr lang="en-GB" sz="9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Churn Label - a direct copy of the target (leakage)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GB" sz="9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   -  </a:t>
            </a:r>
            <a:r>
              <a:rPr lang="en-GB" sz="9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Count / Country / State - constant, no signal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9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2C587E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9"/>
          <p:cNvSpPr txBox="1"/>
          <p:nvPr/>
        </p:nvSpPr>
        <p:spPr>
          <a:xfrm>
            <a:off x="685818" y="1714500"/>
            <a:ext cx="7749747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rgbClr val="DAC3B4"/>
                </a:solidFill>
                <a:latin typeface="Georgia"/>
                <a:ea typeface="Georgia"/>
                <a:cs typeface="Georgia"/>
                <a:sym typeface="Georgia"/>
              </a:rPr>
              <a:t>Question 1 of 5</a:t>
            </a:r>
            <a:endParaRPr sz="1100"/>
          </a:p>
        </p:txBody>
      </p:sp>
      <p:sp>
        <p:nvSpPr>
          <p:cNvPr id="168" name="Google Shape;168;p29"/>
          <p:cNvSpPr txBox="1"/>
          <p:nvPr/>
        </p:nvSpPr>
        <p:spPr>
          <a:xfrm>
            <a:off x="685818" y="2297430"/>
            <a:ext cx="77496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What do </a:t>
            </a:r>
            <a:r>
              <a:rPr lang="en-GB" sz="2400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r>
              <a:rPr lang="en-GB" sz="24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hurners </a:t>
            </a:r>
            <a:r>
              <a:rPr lang="en-GB" sz="2400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L</a:t>
            </a:r>
            <a:r>
              <a:rPr lang="en-GB" sz="24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ook </a:t>
            </a:r>
            <a:r>
              <a:rPr lang="en-GB" sz="2400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L</a:t>
            </a:r>
            <a:r>
              <a:rPr lang="en-GB" sz="24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ike</a:t>
            </a:r>
            <a:r>
              <a:rPr lang="en-GB" sz="2400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:</a:t>
            </a:r>
            <a:r>
              <a:rPr lang="en-GB" sz="24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n-GB" sz="2400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G</a:t>
            </a:r>
            <a:r>
              <a:rPr lang="en-GB" sz="24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ender, </a:t>
            </a:r>
            <a:r>
              <a:rPr lang="en-GB" sz="2400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F</a:t>
            </a:r>
            <a:r>
              <a:rPr lang="en-GB" sz="24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amily - and </a:t>
            </a:r>
            <a:r>
              <a:rPr lang="en-GB" sz="2400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W</a:t>
            </a:r>
            <a:r>
              <a:rPr lang="en-GB" sz="24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hat </a:t>
            </a:r>
            <a:r>
              <a:rPr lang="en-GB" sz="2400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P</a:t>
            </a:r>
            <a:r>
              <a:rPr lang="en-GB" sz="24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roducts do they have?</a:t>
            </a:r>
            <a:endParaRPr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0"/>
          <p:cNvSpPr txBox="1"/>
          <p:nvPr/>
        </p:nvSpPr>
        <p:spPr>
          <a:xfrm>
            <a:off x="480073" y="377190"/>
            <a:ext cx="8229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Gender is not a </a:t>
            </a:r>
            <a:r>
              <a:rPr lang="en-GB" sz="18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F</a:t>
            </a:r>
            <a:r>
              <a:rPr lang="en-GB" sz="18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actor; </a:t>
            </a:r>
            <a:r>
              <a:rPr lang="en-GB" sz="18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r>
              <a:rPr lang="en-GB" sz="18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hurners </a:t>
            </a:r>
            <a:r>
              <a:rPr lang="en-GB" sz="18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are typically S</a:t>
            </a:r>
            <a:r>
              <a:rPr lang="en-GB" sz="18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enior, </a:t>
            </a:r>
            <a:r>
              <a:rPr lang="en-GB" sz="18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S</a:t>
            </a:r>
            <a:r>
              <a:rPr lang="en-GB" sz="18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ingle and </a:t>
            </a:r>
            <a:r>
              <a:rPr lang="en-GB" sz="18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L</a:t>
            </a:r>
            <a:r>
              <a:rPr lang="en-GB" sz="18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ow-commitment</a:t>
            </a:r>
            <a:endParaRPr sz="1100"/>
          </a:p>
        </p:txBody>
      </p:sp>
      <p:pic>
        <p:nvPicPr>
          <p:cNvPr id="174" name="Google Shape;174;p30" descr="demographics_de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11673" y="1337310"/>
            <a:ext cx="5996238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30"/>
          <p:cNvSpPr txBox="1"/>
          <p:nvPr/>
        </p:nvSpPr>
        <p:spPr>
          <a:xfrm>
            <a:off x="822982" y="4217670"/>
            <a:ext cx="74754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i="1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Churners are more often senior (25% vs 16%), and </a:t>
            </a:r>
            <a:r>
              <a:rPr lang="en-GB" sz="900" b="1" i="1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less likely</a:t>
            </a:r>
            <a:r>
              <a:rPr lang="en-GB" sz="900" i="1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 to have a partner (36% vs 48%) or dependents (6% vs 23%).</a:t>
            </a:r>
            <a:endParaRPr sz="900"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1"/>
          <p:cNvSpPr txBox="1"/>
          <p:nvPr/>
        </p:nvSpPr>
        <p:spPr>
          <a:xfrm>
            <a:off x="480073" y="377190"/>
            <a:ext cx="8229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Churners are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F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ibre-heavy but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R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arely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H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old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P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rotective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A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dd-ons</a:t>
            </a:r>
            <a:endParaRPr sz="1100"/>
          </a:p>
        </p:txBody>
      </p:sp>
      <p:pic>
        <p:nvPicPr>
          <p:cNvPr id="181" name="Google Shape;181;p31" descr="products_de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80073" y="1577340"/>
            <a:ext cx="4067108" cy="2811779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1"/>
          <p:cNvSpPr/>
          <p:nvPr/>
        </p:nvSpPr>
        <p:spPr>
          <a:xfrm>
            <a:off x="4835019" y="1405889"/>
            <a:ext cx="3806291" cy="3291840"/>
          </a:xfrm>
          <a:prstGeom prst="roundRect">
            <a:avLst>
              <a:gd name="adj" fmla="val 8000"/>
            </a:avLst>
          </a:prstGeom>
          <a:solidFill>
            <a:srgbClr val="FBEAE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31"/>
          <p:cNvSpPr txBox="1"/>
          <p:nvPr/>
        </p:nvSpPr>
        <p:spPr>
          <a:xfrm>
            <a:off x="5075055" y="1611630"/>
            <a:ext cx="3360600" cy="19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1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Product </a:t>
            </a:r>
            <a:r>
              <a:rPr lang="en-GB" sz="1300" b="1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P</a:t>
            </a:r>
            <a:r>
              <a:rPr lang="en-GB" sz="1300" b="1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rofile</a:t>
            </a:r>
            <a:endParaRPr sz="1300" b="1" i="0" u="none" strike="noStrike" cap="none">
              <a:solidFill>
                <a:srgbClr val="D15115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D15115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Almost all have phone service (91%)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Fibre optic internet is common (69%)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Streaming is popular (~44%)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But only ~16% hold Online Security and ~17% Tech Support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The protective add-ons that reduce churn are exactly the ones churners lack.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2"/>
          <p:cNvSpPr txBox="1"/>
          <p:nvPr/>
        </p:nvSpPr>
        <p:spPr>
          <a:xfrm>
            <a:off x="480073" y="377190"/>
            <a:ext cx="82299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Clustering Analysis</a:t>
            </a:r>
            <a:r>
              <a:rPr lang="en-GB" sz="19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 with K-means</a:t>
            </a:r>
            <a:endParaRPr sz="1100"/>
          </a:p>
        </p:txBody>
      </p:sp>
      <p:pic>
        <p:nvPicPr>
          <p:cNvPr id="189" name="Google Shape;189;p32" descr="elbow_de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7298" y="1769785"/>
            <a:ext cx="4918579" cy="3120389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32"/>
          <p:cNvSpPr txBox="1"/>
          <p:nvPr/>
        </p:nvSpPr>
        <p:spPr>
          <a:xfrm>
            <a:off x="5778312" y="3097200"/>
            <a:ext cx="3120600" cy="17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k=3 &amp; k=4</a:t>
            </a:r>
            <a:endParaRPr sz="110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Churned and retained customers were clustered separately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7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Categoricals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encoded and </a:t>
            </a:r>
            <a:r>
              <a:rPr lang="en-GB" sz="1000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n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umerics standard</a:t>
            </a:r>
            <a:r>
              <a:rPr lang="en-GB" sz="1000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 scaled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7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Swept k = 2-8, reading the elbow (inertia) and silhouette score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1300"/>
              </a:spcBef>
              <a:spcAft>
                <a:spcPts val="0"/>
              </a:spcAft>
              <a:buNone/>
            </a:pPr>
            <a:r>
              <a:rPr lang="en-GB" sz="1100" b="1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Churned</a:t>
            </a:r>
            <a:r>
              <a:rPr lang="en-GB" sz="1100" b="1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:</a:t>
            </a:r>
            <a:r>
              <a:rPr lang="en-GB" sz="1100" b="1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  k = 3 cl</a:t>
            </a:r>
            <a:r>
              <a:rPr lang="en-GB" sz="1100" b="1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usters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1100" b="1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Retained</a:t>
            </a:r>
            <a:r>
              <a:rPr lang="en-GB" sz="1100" b="1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:</a:t>
            </a:r>
            <a:r>
              <a:rPr lang="en-GB" sz="1100" b="1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  k = 4 clusters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91" name="Google Shape;191;p32"/>
          <p:cNvSpPr txBox="1"/>
          <p:nvPr/>
        </p:nvSpPr>
        <p:spPr>
          <a:xfrm>
            <a:off x="515550" y="761425"/>
            <a:ext cx="8112900" cy="9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latin typeface="Georgia"/>
                <a:ea typeface="Georgia"/>
                <a:cs typeface="Georgia"/>
                <a:sym typeface="Georgia"/>
              </a:rPr>
              <a:t>K-means clustering groups customers who "look alike" across their contract, billing, and service-usage patterns into </a:t>
            </a:r>
            <a:r>
              <a:rPr lang="en-GB" sz="1000" b="1">
                <a:latin typeface="Georgia"/>
                <a:ea typeface="Georgia"/>
                <a:cs typeface="Georgia"/>
                <a:sym typeface="Georgia"/>
              </a:rPr>
              <a:t>k </a:t>
            </a:r>
            <a:r>
              <a:rPr lang="en-GB" sz="1000">
                <a:latin typeface="Georgia"/>
                <a:ea typeface="Georgia"/>
                <a:cs typeface="Georgia"/>
                <a:sym typeface="Georgia"/>
              </a:rPr>
              <a:t>distinct segments. </a:t>
            </a:r>
            <a:endParaRPr sz="1000"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latin typeface="Georgia"/>
                <a:ea typeface="Georgia"/>
                <a:cs typeface="Georgia"/>
                <a:sym typeface="Georgia"/>
              </a:rPr>
              <a:t>Here, it lets us uncover natural customer archetypes within the churned and retained populations separately, revealing which combinations of traits (like short tenure, fibre optic, and no add-ons) define the highest-risk profile, and which retained customers most closely resemble that profile today.  </a:t>
            </a:r>
            <a:endParaRPr sz="1000"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92" name="Google Shape;192;p32"/>
          <p:cNvSpPr txBox="1"/>
          <p:nvPr/>
        </p:nvSpPr>
        <p:spPr>
          <a:xfrm>
            <a:off x="5658900" y="1715713"/>
            <a:ext cx="33594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Choosing k</a:t>
            </a:r>
            <a:endParaRPr sz="1200" b="1">
              <a:solidFill>
                <a:srgbClr val="2C587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 b="1">
              <a:solidFill>
                <a:srgbClr val="2C587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latin typeface="Georgia"/>
                <a:ea typeface="Georgia"/>
                <a:cs typeface="Georgia"/>
                <a:sym typeface="Georgia"/>
              </a:rPr>
              <a:t>k is chosen by picking the point where adding more clusters stops meaningfully reducing inertia, balanced against how interpretable and business-useful the resulting segments are. </a:t>
            </a:r>
            <a:endParaRPr sz="1000"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3"/>
          <p:cNvSpPr txBox="1"/>
          <p:nvPr/>
        </p:nvSpPr>
        <p:spPr>
          <a:xfrm>
            <a:off x="480073" y="377190"/>
            <a:ext cx="82299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Churned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ustomers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: The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T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hree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A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rchetypes</a:t>
            </a:r>
            <a:endParaRPr sz="11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All three are </a:t>
            </a:r>
            <a:r>
              <a:rPr lang="en-GB" sz="1000" b="1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dominated by month-to-month contracts </a:t>
            </a:r>
            <a:r>
              <a:rPr lang="en-GB" sz="1000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and </a:t>
            </a:r>
            <a:r>
              <a:rPr lang="en-GB" sz="1000" b="1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low add-on take-up</a:t>
            </a:r>
            <a:r>
              <a:rPr lang="en-GB" sz="1000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.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</p:txBody>
      </p:sp>
      <p:graphicFrame>
        <p:nvGraphicFramePr>
          <p:cNvPr id="198" name="Google Shape;198;p33"/>
          <p:cNvGraphicFramePr/>
          <p:nvPr>
            <p:extLst>
              <p:ext uri="{D42A27DB-BD31-4B8C-83A1-F6EECF244321}">
                <p14:modId xmlns:p14="http://schemas.microsoft.com/office/powerpoint/2010/main" val="980047882"/>
              </p:ext>
            </p:extLst>
          </p:nvPr>
        </p:nvGraphicFramePr>
        <p:xfrm>
          <a:off x="514364" y="1371600"/>
          <a:ext cx="8126925" cy="2571600"/>
        </p:xfrm>
        <a:graphic>
          <a:graphicData uri="http://schemas.openxmlformats.org/drawingml/2006/table">
            <a:tbl>
              <a:tblPr>
                <a:noFill/>
                <a:tableStyleId>{9CF64FCD-972A-4641-A23A-824053B4A756}</a:tableStyleId>
              </a:tblPr>
              <a:tblGrid>
                <a:gridCol w="1954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1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1725" marR="48000" marT="13725" marB="13725" anchor="ctr">
                    <a:solidFill>
                      <a:srgbClr val="2C58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>
                          <a:solidFill>
                            <a:srgbClr val="FFFFFF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C1 · Budget DSL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2C58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>
                          <a:solidFill>
                            <a:srgbClr val="FFFFFF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C2 · Established fibre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2C58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>
                          <a:solidFill>
                            <a:srgbClr val="FFFFFF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C3 · New fibre (high-risk)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2C58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Customers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487  (26%)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420  (22%)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0" dirty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962  (52%)</a:t>
                      </a:r>
                      <a:endParaRPr sz="1100" dirty="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Avg tenure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 months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48 months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 months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Avg monthly charge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$39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$94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$84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Month-to-month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93%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61%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98%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Internet type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77% DSL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88% fibre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96% fibre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Electronic check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39%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53%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69%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1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Has online security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15%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29%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0" dirty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10%</a:t>
                      </a:r>
                      <a:endParaRPr sz="1100" dirty="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9" name="Google Shape;199;p33"/>
          <p:cNvSpPr/>
          <p:nvPr/>
        </p:nvSpPr>
        <p:spPr>
          <a:xfrm>
            <a:off x="514364" y="4114800"/>
            <a:ext cx="8126947" cy="685800"/>
          </a:xfrm>
          <a:prstGeom prst="roundRect">
            <a:avLst>
              <a:gd name="adj" fmla="val 8000"/>
            </a:avLst>
          </a:prstGeom>
          <a:solidFill>
            <a:srgbClr val="FBEAE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3"/>
          <p:cNvSpPr txBox="1"/>
          <p:nvPr/>
        </p:nvSpPr>
        <p:spPr>
          <a:xfrm>
            <a:off x="754400" y="4265676"/>
            <a:ext cx="7647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C3 is the priority: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 half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of all churners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,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brand new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, </a:t>
            </a:r>
            <a:r>
              <a:rPr lang="en-GB" sz="1000" b="1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high-value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, almost entirely month-to-month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with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 only 10% holding online security.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4"/>
          <p:cNvSpPr txBox="1"/>
          <p:nvPr/>
        </p:nvSpPr>
        <p:spPr>
          <a:xfrm>
            <a:off x="480073" y="377190"/>
            <a:ext cx="82299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Retained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ustomers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: Four Archetypes</a:t>
            </a:r>
            <a:endParaRPr sz="11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The loyal segments are defined by </a:t>
            </a:r>
            <a:r>
              <a:rPr lang="en-GB" sz="1000" b="1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term contracts</a:t>
            </a:r>
            <a:r>
              <a:rPr lang="en-GB" sz="1000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, </a:t>
            </a:r>
            <a:r>
              <a:rPr lang="en-GB" sz="1000" b="1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automatic payment</a:t>
            </a:r>
            <a:r>
              <a:rPr lang="en-GB" sz="1000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 and </a:t>
            </a:r>
            <a:r>
              <a:rPr lang="en-GB" sz="1000" b="1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add-on take-up</a:t>
            </a:r>
            <a:r>
              <a:rPr lang="en-GB" sz="1000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.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</p:txBody>
      </p:sp>
      <p:graphicFrame>
        <p:nvGraphicFramePr>
          <p:cNvPr id="206" name="Google Shape;206;p34"/>
          <p:cNvGraphicFramePr/>
          <p:nvPr/>
        </p:nvGraphicFramePr>
        <p:xfrm>
          <a:off x="514364" y="1371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{9CF64FCD-972A-4641-A23A-824053B4A756}</a:tableStyleId>
              </a:tblPr>
              <a:tblGrid>
                <a:gridCol w="181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7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7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73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1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1725" marR="48000" marT="13725" marB="13725" anchor="ctr">
                    <a:solidFill>
                      <a:srgbClr val="2C58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>
                          <a:solidFill>
                            <a:srgbClr val="FFFFFF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C1 · Watchlist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2C58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>
                          <a:solidFill>
                            <a:srgbClr val="FFFFFF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C2 · Low-usage loyal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2C58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>
                          <a:solidFill>
                            <a:srgbClr val="FFFFFF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C3 · Loyal high-value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2C58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>
                          <a:solidFill>
                            <a:srgbClr val="FFFFFF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C4 · New low-spend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2C58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Customers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1,551  (30%)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805  (16%)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1,629  (31%)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1,189  (23%)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Avg tenure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 months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56 months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61 months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 months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Avg monthly charge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$73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$26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$91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$28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Month-to-month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72%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8%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17%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64%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Internet type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51% fibre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80% none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62% fibre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65% none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Automatic payment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40%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66%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68%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27%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1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Has online security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34%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12%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61%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9%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07" name="Google Shape;207;p34"/>
          <p:cNvSpPr/>
          <p:nvPr/>
        </p:nvSpPr>
        <p:spPr>
          <a:xfrm>
            <a:off x="514364" y="4114800"/>
            <a:ext cx="8126947" cy="685800"/>
          </a:xfrm>
          <a:prstGeom prst="roundRect">
            <a:avLst>
              <a:gd name="adj" fmla="val 8000"/>
            </a:avLst>
          </a:prstGeom>
          <a:solidFill>
            <a:srgbClr val="F3EBE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34"/>
          <p:cNvSpPr txBox="1"/>
          <p:nvPr/>
        </p:nvSpPr>
        <p:spPr>
          <a:xfrm>
            <a:off x="754400" y="4265676"/>
            <a:ext cx="7647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Retained C1 looks like a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 churner cluster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(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72% month-to-month, mid charges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)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-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it is the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 watchlist.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Retained C3 </a:t>
            </a:r>
            <a:r>
              <a:rPr lang="en-GB" sz="1000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suggest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 high-spend fibre customers stay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when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n-GB" sz="1000" b="1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on a term contract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and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 using add-ons.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5"/>
          <p:cNvSpPr txBox="1"/>
          <p:nvPr/>
        </p:nvSpPr>
        <p:spPr>
          <a:xfrm>
            <a:off x="480073" y="377190"/>
            <a:ext cx="82299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Comparison</a:t>
            </a:r>
            <a:r>
              <a:rPr lang="en-GB" sz="19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: </a:t>
            </a:r>
            <a:r>
              <a:rPr lang="en-GB" sz="19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W</a:t>
            </a:r>
            <a:r>
              <a:rPr lang="en-GB" sz="19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hat </a:t>
            </a:r>
            <a:r>
              <a:rPr lang="en-GB" sz="19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S</a:t>
            </a:r>
            <a:r>
              <a:rPr lang="en-GB" sz="19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eparates a </a:t>
            </a:r>
            <a:r>
              <a:rPr lang="en-GB" sz="19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L</a:t>
            </a:r>
            <a:r>
              <a:rPr lang="en-GB" sz="19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oyal </a:t>
            </a:r>
            <a:r>
              <a:rPr lang="en-GB" sz="19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H</a:t>
            </a:r>
            <a:r>
              <a:rPr lang="en-GB" sz="19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igh-spender from a </a:t>
            </a:r>
            <a:r>
              <a:rPr lang="en-GB" sz="19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r>
              <a:rPr lang="en-GB" sz="19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hurning </a:t>
            </a:r>
            <a:r>
              <a:rPr lang="en-GB" sz="19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O</a:t>
            </a:r>
            <a:r>
              <a:rPr lang="en-GB" sz="19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ne?</a:t>
            </a:r>
            <a:endParaRPr sz="1100"/>
          </a:p>
        </p:txBody>
      </p:sp>
      <p:sp>
        <p:nvSpPr>
          <p:cNvPr id="214" name="Google Shape;214;p35"/>
          <p:cNvSpPr/>
          <p:nvPr/>
        </p:nvSpPr>
        <p:spPr>
          <a:xfrm>
            <a:off x="480073" y="1337310"/>
            <a:ext cx="4012037" cy="3154680"/>
          </a:xfrm>
          <a:prstGeom prst="roundRect">
            <a:avLst>
              <a:gd name="adj" fmla="val 8000"/>
            </a:avLst>
          </a:prstGeom>
          <a:solidFill>
            <a:srgbClr val="FBEAE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35"/>
          <p:cNvSpPr txBox="1"/>
          <p:nvPr/>
        </p:nvSpPr>
        <p:spPr>
          <a:xfrm>
            <a:off x="720109" y="1543050"/>
            <a:ext cx="3566400" cy="183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1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Churned C2 · Established | </a:t>
            </a:r>
            <a:r>
              <a:rPr lang="en-GB" sz="1300" b="1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F</a:t>
            </a:r>
            <a:r>
              <a:rPr lang="en-GB" sz="1300" b="1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ibre</a:t>
            </a:r>
            <a:r>
              <a:rPr lang="en-GB" sz="1300" b="1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-optic Internet Service</a:t>
            </a:r>
            <a:endParaRPr sz="11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900" i="1" u="none" strike="noStrike" cap="none">
                <a:solidFill>
                  <a:srgbClr val="A47147"/>
                </a:solidFill>
                <a:latin typeface="Georgia"/>
                <a:ea typeface="Georgia"/>
                <a:cs typeface="Georgia"/>
                <a:sym typeface="Georgia"/>
              </a:rPr>
              <a:t>48 months tenure  ·  $94 / month</a:t>
            </a:r>
            <a:endParaRPr sz="900" i="1" u="none" strike="noStrike" cap="none">
              <a:solidFill>
                <a:srgbClr val="A47147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900" i="1">
              <a:solidFill>
                <a:srgbClr val="A47147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61% still 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month-to-month</a:t>
            </a:r>
            <a:endParaRPr sz="1100" b="1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• </a:t>
            </a:r>
            <a:r>
              <a:rPr lang="en-GB" sz="1000" b="1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Only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 43% on automatic payment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Only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 29% hold online security add-on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53% pay by 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electronic check </a:t>
            </a:r>
            <a:r>
              <a:rPr lang="en-GB" sz="1000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- a </a:t>
            </a:r>
            <a:r>
              <a:rPr lang="en-GB" sz="1000" b="1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manual payment method</a:t>
            </a:r>
            <a:r>
              <a:rPr lang="en-GB" sz="1000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 (more friction, more likely to churn)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16" name="Google Shape;216;p35"/>
          <p:cNvSpPr/>
          <p:nvPr/>
        </p:nvSpPr>
        <p:spPr>
          <a:xfrm>
            <a:off x="4663564" y="1337310"/>
            <a:ext cx="4012037" cy="3154680"/>
          </a:xfrm>
          <a:prstGeom prst="roundRect">
            <a:avLst>
              <a:gd name="adj" fmla="val 8000"/>
            </a:avLst>
          </a:prstGeom>
          <a:solidFill>
            <a:srgbClr val="EAF0F5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35"/>
          <p:cNvSpPr txBox="1"/>
          <p:nvPr/>
        </p:nvSpPr>
        <p:spPr>
          <a:xfrm>
            <a:off x="4903601" y="1543050"/>
            <a:ext cx="3566400" cy="164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Retained C3 · Loyal | </a:t>
            </a:r>
            <a:r>
              <a:rPr lang="en-GB" sz="13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H</a:t>
            </a:r>
            <a:r>
              <a:rPr lang="en-GB" sz="13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igh-value</a:t>
            </a:r>
            <a:endParaRPr sz="11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900" i="1" u="none" strike="noStrike" cap="none">
                <a:solidFill>
                  <a:srgbClr val="A47147"/>
                </a:solidFill>
                <a:latin typeface="Georgia"/>
                <a:ea typeface="Georgia"/>
                <a:cs typeface="Georgia"/>
                <a:sym typeface="Georgia"/>
              </a:rPr>
              <a:t>61 months tenure  ·  $91 / month</a:t>
            </a:r>
            <a:endParaRPr sz="900" i="1" u="none" strike="noStrike" cap="none">
              <a:solidFill>
                <a:srgbClr val="A47147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900" i="1">
              <a:solidFill>
                <a:srgbClr val="A47147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900" i="1">
              <a:solidFill>
                <a:srgbClr val="A47147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83% on a 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one- or two-year contract</a:t>
            </a:r>
            <a:endParaRPr sz="1100" b="1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68% on 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automatic payment</a:t>
            </a:r>
            <a:endParaRPr sz="1100" b="1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61% hold 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online security add-on</a:t>
            </a:r>
            <a:endParaRPr sz="1100" b="1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Only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24% pay by electronic check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18" name="Google Shape;218;p35"/>
          <p:cNvSpPr txBox="1"/>
          <p:nvPr/>
        </p:nvSpPr>
        <p:spPr>
          <a:xfrm>
            <a:off x="834307" y="4588055"/>
            <a:ext cx="74754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i="1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S</a:t>
            </a:r>
            <a:r>
              <a:rPr lang="en-GB" sz="900" i="1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imilar service/products</a:t>
            </a:r>
            <a:r>
              <a:rPr lang="en-GB" sz="900" i="1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, </a:t>
            </a:r>
            <a:r>
              <a:rPr lang="en-GB" sz="900" i="1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similar</a:t>
            </a:r>
            <a:r>
              <a:rPr lang="en-GB" sz="900" i="1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 spends - the difference is </a:t>
            </a:r>
            <a:r>
              <a:rPr lang="en-GB" sz="900" b="1" i="1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contract lock-in</a:t>
            </a:r>
            <a:r>
              <a:rPr lang="en-GB" sz="900" i="1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, </a:t>
            </a:r>
            <a:r>
              <a:rPr lang="en-GB" sz="900" b="1" i="1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automatic payment </a:t>
            </a:r>
            <a:r>
              <a:rPr lang="en-GB" sz="900" i="1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and </a:t>
            </a:r>
            <a:r>
              <a:rPr lang="en-GB" sz="900" b="1" i="1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add-ons</a:t>
            </a:r>
            <a:r>
              <a:rPr lang="en-GB" sz="900" i="1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.</a:t>
            </a:r>
            <a:endParaRPr sz="1000"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6"/>
          <p:cNvSpPr txBox="1"/>
          <p:nvPr/>
        </p:nvSpPr>
        <p:spPr>
          <a:xfrm>
            <a:off x="480073" y="377190"/>
            <a:ext cx="8229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Identified: 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A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H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igh-risk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hurner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A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rchetype (5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%) and an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at-risk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Group of Current Customers</a:t>
            </a:r>
            <a:endParaRPr sz="1100"/>
          </a:p>
        </p:txBody>
      </p:sp>
      <p:pic>
        <p:nvPicPr>
          <p:cNvPr id="224" name="Google Shape;224;p36" descr="churned_clusters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80073" y="1645920"/>
            <a:ext cx="4110766" cy="27432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36"/>
          <p:cNvSpPr/>
          <p:nvPr/>
        </p:nvSpPr>
        <p:spPr>
          <a:xfrm>
            <a:off x="4766437" y="1405889"/>
            <a:ext cx="3874873" cy="1577340"/>
          </a:xfrm>
          <a:prstGeom prst="roundRect">
            <a:avLst>
              <a:gd name="adj" fmla="val 8000"/>
            </a:avLst>
          </a:prstGeom>
          <a:solidFill>
            <a:srgbClr val="FBEAE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36"/>
          <p:cNvSpPr txBox="1"/>
          <p:nvPr/>
        </p:nvSpPr>
        <p:spPr>
          <a:xfrm>
            <a:off x="5006473" y="1577340"/>
            <a:ext cx="3429000" cy="8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Churned Cluster 3 (C3)</a:t>
            </a:r>
            <a:r>
              <a:rPr lang="en-GB" sz="1100" b="1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: H</a:t>
            </a:r>
            <a:r>
              <a:rPr lang="en-GB" sz="1100" b="1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igh-risk (5</a:t>
            </a:r>
            <a:r>
              <a:rPr lang="en-GB" sz="1100" b="1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r>
              <a:rPr lang="en-GB" sz="1100" b="1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% of churners)</a:t>
            </a:r>
            <a:endParaRPr sz="1100" b="1" i="0" u="none" strike="noStrike" cap="none">
              <a:solidFill>
                <a:srgbClr val="D15115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D15115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Short tenure, high charges, 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~98% month-to-month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, fibre optic, 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almost no add-ons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.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27" name="Google Shape;227;p36"/>
          <p:cNvSpPr/>
          <p:nvPr/>
        </p:nvSpPr>
        <p:spPr>
          <a:xfrm>
            <a:off x="4766437" y="3120390"/>
            <a:ext cx="3874873" cy="1577340"/>
          </a:xfrm>
          <a:prstGeom prst="roundRect">
            <a:avLst>
              <a:gd name="adj" fmla="val 8000"/>
            </a:avLst>
          </a:prstGeom>
          <a:solidFill>
            <a:srgbClr val="F3EBE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36"/>
          <p:cNvSpPr txBox="1"/>
          <p:nvPr/>
        </p:nvSpPr>
        <p:spPr>
          <a:xfrm>
            <a:off x="5006473" y="3291840"/>
            <a:ext cx="3429000" cy="8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i="0" u="none" strike="noStrike" cap="none">
                <a:solidFill>
                  <a:srgbClr val="A47147"/>
                </a:solidFill>
                <a:latin typeface="Georgia"/>
                <a:ea typeface="Georgia"/>
                <a:cs typeface="Georgia"/>
                <a:sym typeface="Georgia"/>
              </a:rPr>
              <a:t>Retained Cluster 1 (C1)</a:t>
            </a:r>
            <a:r>
              <a:rPr lang="en-GB" sz="1100" b="1">
                <a:solidFill>
                  <a:srgbClr val="A47147"/>
                </a:solidFill>
                <a:latin typeface="Georgia"/>
                <a:ea typeface="Georgia"/>
                <a:cs typeface="Georgia"/>
                <a:sym typeface="Georgia"/>
              </a:rPr>
              <a:t>:</a:t>
            </a:r>
            <a:r>
              <a:rPr lang="en-GB" sz="1100" b="1" i="0" u="none" strike="noStrike" cap="none">
                <a:solidFill>
                  <a:srgbClr val="A47147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n-GB" sz="1100" b="1">
                <a:solidFill>
                  <a:srgbClr val="A47147"/>
                </a:solidFill>
                <a:latin typeface="Georgia"/>
                <a:ea typeface="Georgia"/>
                <a:cs typeface="Georgia"/>
                <a:sym typeface="Georgia"/>
              </a:rPr>
              <a:t>T</a:t>
            </a:r>
            <a:r>
              <a:rPr lang="en-GB" sz="1100" b="1" i="0" u="none" strike="noStrike" cap="none">
                <a:solidFill>
                  <a:srgbClr val="A47147"/>
                </a:solidFill>
                <a:latin typeface="Georgia"/>
                <a:ea typeface="Georgia"/>
                <a:cs typeface="Georgia"/>
                <a:sym typeface="Georgia"/>
              </a:rPr>
              <a:t>he </a:t>
            </a:r>
            <a:r>
              <a:rPr lang="en-GB" sz="1100" b="1">
                <a:solidFill>
                  <a:srgbClr val="A47147"/>
                </a:solidFill>
                <a:latin typeface="Georgia"/>
                <a:ea typeface="Georgia"/>
                <a:cs typeface="Georgia"/>
                <a:sym typeface="Georgia"/>
              </a:rPr>
              <a:t>W</a:t>
            </a:r>
            <a:r>
              <a:rPr lang="en-GB" sz="1100" b="1" i="0" u="none" strike="noStrike" cap="none">
                <a:solidFill>
                  <a:srgbClr val="A47147"/>
                </a:solidFill>
                <a:latin typeface="Georgia"/>
                <a:ea typeface="Georgia"/>
                <a:cs typeface="Georgia"/>
                <a:sym typeface="Georgia"/>
              </a:rPr>
              <a:t>atchlist</a:t>
            </a:r>
            <a:endParaRPr sz="1100" b="1" i="0" u="none" strike="noStrike" cap="none">
              <a:solidFill>
                <a:srgbClr val="A47147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A47147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Mid tenure, high charges, </a:t>
            </a: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72% month-to-month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endParaRPr sz="1000">
              <a:solidFill>
                <a:srgbClr val="21212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(many characteristics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 mirror </a:t>
            </a:r>
            <a:r>
              <a:rPr lang="en-GB" sz="1000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churned cluster 3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, so it is the clearest target for proactive retention</a:t>
            </a:r>
            <a:r>
              <a:rPr lang="en-GB" sz="1000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)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.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7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2C587E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37"/>
          <p:cNvSpPr txBox="1"/>
          <p:nvPr/>
        </p:nvSpPr>
        <p:spPr>
          <a:xfrm>
            <a:off x="685818" y="1714500"/>
            <a:ext cx="7749747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rgbClr val="DAC3B4"/>
                </a:solidFill>
                <a:latin typeface="Georgia"/>
                <a:ea typeface="Georgia"/>
                <a:cs typeface="Georgia"/>
                <a:sym typeface="Georgia"/>
              </a:rPr>
              <a:t>Question 2 of 5</a:t>
            </a:r>
            <a:endParaRPr sz="1100"/>
          </a:p>
        </p:txBody>
      </p:sp>
      <p:sp>
        <p:nvSpPr>
          <p:cNvPr id="235" name="Google Shape;235;p37"/>
          <p:cNvSpPr txBox="1"/>
          <p:nvPr/>
        </p:nvSpPr>
        <p:spPr>
          <a:xfrm>
            <a:off x="685818" y="2297430"/>
            <a:ext cx="7749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Why are </a:t>
            </a:r>
            <a:r>
              <a:rPr lang="en-GB" sz="2400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Customers</a:t>
            </a:r>
            <a:r>
              <a:rPr lang="en-GB" sz="24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n-GB" sz="2400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r>
              <a:rPr lang="en-GB" sz="24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hurning?</a:t>
            </a:r>
            <a:endParaRPr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8"/>
          <p:cNvSpPr txBox="1"/>
          <p:nvPr/>
        </p:nvSpPr>
        <p:spPr>
          <a:xfrm>
            <a:off x="480073" y="377190"/>
            <a:ext cx="8229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Customers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Mostly L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eave for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ompetitors Offers and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Poor Service,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 not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P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rice</a:t>
            </a:r>
            <a:endParaRPr sz="1100"/>
          </a:p>
        </p:txBody>
      </p:sp>
      <p:pic>
        <p:nvPicPr>
          <p:cNvPr id="241" name="Google Shape;241;p38" descr="reasons_de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80073" y="1714500"/>
            <a:ext cx="3998422" cy="253746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8"/>
          <p:cNvSpPr/>
          <p:nvPr/>
        </p:nvSpPr>
        <p:spPr>
          <a:xfrm>
            <a:off x="4835019" y="1405889"/>
            <a:ext cx="3806291" cy="3291840"/>
          </a:xfrm>
          <a:prstGeom prst="roundRect">
            <a:avLst>
              <a:gd name="adj" fmla="val 8000"/>
            </a:avLst>
          </a:prstGeom>
          <a:solidFill>
            <a:srgbClr val="FBEAE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38"/>
          <p:cNvSpPr txBox="1"/>
          <p:nvPr/>
        </p:nvSpPr>
        <p:spPr>
          <a:xfrm>
            <a:off x="5075055" y="1611630"/>
            <a:ext cx="3360600" cy="17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1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Why they </a:t>
            </a:r>
            <a:r>
              <a:rPr lang="en-GB" sz="1300" b="1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r>
              <a:rPr lang="en-GB" sz="1300" b="1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hurn</a:t>
            </a:r>
            <a:endParaRPr sz="1300" b="1" i="0" u="none" strike="noStrike" cap="none">
              <a:solidFill>
                <a:srgbClr val="D15115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D15115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Competitor offers - speed, data, devices (33%)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Product dissatisfaction (23%)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Support attitude &amp; expertise (20%)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Price / data / speed - only 13%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The top reasons are addressable: a better offer and better support, not a price war.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9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2C587E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39"/>
          <p:cNvSpPr txBox="1"/>
          <p:nvPr/>
        </p:nvSpPr>
        <p:spPr>
          <a:xfrm>
            <a:off x="685818" y="1714500"/>
            <a:ext cx="7749747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rgbClr val="DAC3B4"/>
                </a:solidFill>
                <a:latin typeface="Georgia"/>
                <a:ea typeface="Georgia"/>
                <a:cs typeface="Georgia"/>
                <a:sym typeface="Georgia"/>
              </a:rPr>
              <a:t>Question 3 of 5</a:t>
            </a:r>
            <a:endParaRPr sz="1100"/>
          </a:p>
        </p:txBody>
      </p:sp>
      <p:sp>
        <p:nvSpPr>
          <p:cNvPr id="250" name="Google Shape;250;p39"/>
          <p:cNvSpPr txBox="1"/>
          <p:nvPr/>
        </p:nvSpPr>
        <p:spPr>
          <a:xfrm>
            <a:off x="685818" y="2297430"/>
            <a:ext cx="77496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What </a:t>
            </a:r>
            <a:r>
              <a:rPr lang="en-GB" sz="2400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</a:t>
            </a:r>
            <a:r>
              <a:rPr lang="en-GB" sz="24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akes Customers </a:t>
            </a:r>
            <a:r>
              <a:rPr lang="en-GB" sz="2400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S</a:t>
            </a:r>
            <a:r>
              <a:rPr lang="en-GB" sz="24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tay - and </a:t>
            </a:r>
            <a:r>
              <a:rPr lang="en-GB" sz="2400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W</a:t>
            </a:r>
            <a:r>
              <a:rPr lang="en-GB" sz="24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hat Sign-up Factor </a:t>
            </a:r>
            <a:r>
              <a:rPr lang="en-GB" sz="2400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S</a:t>
            </a:r>
            <a:r>
              <a:rPr lang="en-GB" sz="24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hould we </a:t>
            </a:r>
            <a:r>
              <a:rPr lang="en-GB" sz="2400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I</a:t>
            </a:r>
            <a:r>
              <a:rPr lang="en-GB" sz="24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ncentivise?</a:t>
            </a:r>
            <a:endParaRPr sz="1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0"/>
          <p:cNvSpPr txBox="1"/>
          <p:nvPr/>
        </p:nvSpPr>
        <p:spPr>
          <a:xfrm>
            <a:off x="480073" y="377190"/>
            <a:ext cx="8229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T</a:t>
            </a:r>
            <a:r>
              <a:rPr lang="en-GB" sz="18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erm contracts and </a:t>
            </a:r>
            <a:r>
              <a:rPr lang="en-GB" sz="18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A</a:t>
            </a:r>
            <a:r>
              <a:rPr lang="en-GB" sz="18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dd-ons </a:t>
            </a:r>
            <a:r>
              <a:rPr lang="en-GB" sz="18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Retain</a:t>
            </a:r>
            <a:r>
              <a:rPr lang="en-GB" sz="18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n-GB" sz="18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r>
              <a:rPr lang="en-GB" sz="18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ustomers</a:t>
            </a:r>
            <a:r>
              <a:rPr lang="en-GB" sz="18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:</a:t>
            </a:r>
            <a:r>
              <a:rPr lang="en-GB" sz="18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n-GB" sz="18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Allocate the $2.50 Incentive to</a:t>
            </a:r>
            <a:r>
              <a:rPr lang="en-GB" sz="18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 Online Security Sign-ups</a:t>
            </a:r>
            <a:endParaRPr sz="1100"/>
          </a:p>
        </p:txBody>
      </p:sp>
      <p:pic>
        <p:nvPicPr>
          <p:cNvPr id="256" name="Google Shape;256;p40" descr="retention_de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80073" y="1714500"/>
            <a:ext cx="4023233" cy="253746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40"/>
          <p:cNvSpPr/>
          <p:nvPr/>
        </p:nvSpPr>
        <p:spPr>
          <a:xfrm>
            <a:off x="4835019" y="1405889"/>
            <a:ext cx="3806291" cy="3291840"/>
          </a:xfrm>
          <a:prstGeom prst="roundRect">
            <a:avLst>
              <a:gd name="adj" fmla="val 8000"/>
            </a:avLst>
          </a:prstGeom>
          <a:solidFill>
            <a:srgbClr val="FBEAE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40"/>
          <p:cNvSpPr txBox="1"/>
          <p:nvPr/>
        </p:nvSpPr>
        <p:spPr>
          <a:xfrm>
            <a:off x="5075055" y="1611630"/>
            <a:ext cx="3360600" cy="18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1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The $2.50 </a:t>
            </a:r>
            <a:r>
              <a:rPr lang="en-GB" sz="1300" b="1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I</a:t>
            </a:r>
            <a:r>
              <a:rPr lang="en-GB" sz="1300" b="1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ncentive</a:t>
            </a:r>
            <a:endParaRPr sz="1300" b="1" i="0" u="none" strike="noStrike" cap="none">
              <a:solidFill>
                <a:srgbClr val="D15115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D15115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Online security cuts churn 42% </a:t>
            </a:r>
            <a:r>
              <a:rPr lang="en-GB" sz="1000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to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 15% 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~3,500 internet customers lack it, churning at ~42%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Providing an Incentive to employees for Online Security sign-ups may also improve employee morale (better support service)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000" b="1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Recommend incentivising Online Security sign-ups (Tech support a close second).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1"/>
          <p:cNvSpPr txBox="1"/>
          <p:nvPr/>
        </p:nvSpPr>
        <p:spPr>
          <a:xfrm>
            <a:off x="480073" y="377190"/>
            <a:ext cx="8229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Features that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M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ost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I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nfluence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hurn: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ontract type,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T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enure,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harges and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M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issing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A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dd-ons</a:t>
            </a:r>
            <a:endParaRPr sz="1100"/>
          </a:p>
        </p:txBody>
      </p:sp>
      <p:pic>
        <p:nvPicPr>
          <p:cNvPr id="264" name="Google Shape;264;p41" descr="importance_de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28909" y="1337310"/>
            <a:ext cx="4689067" cy="3017520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41"/>
          <p:cNvSpPr txBox="1"/>
          <p:nvPr/>
        </p:nvSpPr>
        <p:spPr>
          <a:xfrm>
            <a:off x="822982" y="4491990"/>
            <a:ext cx="74754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i="1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Our predictive m</a:t>
            </a:r>
            <a:r>
              <a:rPr lang="en-GB" sz="900" i="1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odel feature importances - the strongest churn drivers </a:t>
            </a:r>
            <a:r>
              <a:rPr lang="en-GB" sz="900" i="1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corroborate our</a:t>
            </a:r>
            <a:r>
              <a:rPr lang="en-GB" sz="900" i="1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 EDA: contract type, tenure, charges, and a lack of online security / tech support.</a:t>
            </a:r>
            <a:endParaRPr sz="1000"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2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2C587E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42"/>
          <p:cNvSpPr txBox="1"/>
          <p:nvPr/>
        </p:nvSpPr>
        <p:spPr>
          <a:xfrm>
            <a:off x="685818" y="1714500"/>
            <a:ext cx="7749747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rgbClr val="DAC3B4"/>
                </a:solidFill>
                <a:latin typeface="Georgia"/>
                <a:ea typeface="Georgia"/>
                <a:cs typeface="Georgia"/>
                <a:sym typeface="Georgia"/>
              </a:rPr>
              <a:t>Question 4 of 5</a:t>
            </a:r>
            <a:endParaRPr sz="1100"/>
          </a:p>
        </p:txBody>
      </p:sp>
      <p:sp>
        <p:nvSpPr>
          <p:cNvPr id="272" name="Google Shape;272;p42"/>
          <p:cNvSpPr txBox="1"/>
          <p:nvPr/>
        </p:nvSpPr>
        <p:spPr>
          <a:xfrm>
            <a:off x="685818" y="2297430"/>
            <a:ext cx="7749747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Which 500 customers should get the retention mailer?</a:t>
            </a:r>
            <a:endParaRPr sz="11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3"/>
          <p:cNvSpPr txBox="1"/>
          <p:nvPr/>
        </p:nvSpPr>
        <p:spPr>
          <a:xfrm>
            <a:off x="480073" y="377190"/>
            <a:ext cx="82299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Predictive Modelling: Building</a:t>
            </a:r>
            <a:r>
              <a:rPr lang="en-GB" sz="19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 a </a:t>
            </a:r>
            <a:r>
              <a:rPr lang="en-GB" sz="19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V</a:t>
            </a:r>
            <a:r>
              <a:rPr lang="en-GB" sz="19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alidated Random Forest (test ROC-AUC 0.85)</a:t>
            </a:r>
            <a:endParaRPr sz="1100"/>
          </a:p>
        </p:txBody>
      </p:sp>
      <p:pic>
        <p:nvPicPr>
          <p:cNvPr id="278" name="Google Shape;278;p43" descr="roc_de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80073" y="1508760"/>
            <a:ext cx="3525336" cy="2880360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43"/>
          <p:cNvSpPr txBox="1"/>
          <p:nvPr/>
        </p:nvSpPr>
        <p:spPr>
          <a:xfrm>
            <a:off x="4114910" y="1474470"/>
            <a:ext cx="4526400" cy="19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How it was </a:t>
            </a:r>
            <a:r>
              <a:rPr lang="en-GB" sz="13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B</a:t>
            </a:r>
            <a:r>
              <a:rPr lang="en-GB" sz="13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uilt</a:t>
            </a:r>
            <a:endParaRPr sz="1300" b="1" i="0" u="none" strike="noStrike" cap="none">
              <a:solidFill>
                <a:srgbClr val="2C587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2C587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Stratified 80/20 train-test split (seeded, no leakage)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5-fold cross-validated model comparison: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        -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Logistic Regression - CV ROC-AUC 0.859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        -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Random Forest (tuned) - CV ROC-AUC 0.861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Preprocessing (one-hot + scaling) fit inside the Pipeline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Tuned with GridSearchCV on ROC-AUC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Held-out test: ROC-AUC 0.853, churn recall 77% (vs 73.5% baseline)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4"/>
          <p:cNvSpPr txBox="1"/>
          <p:nvPr/>
        </p:nvSpPr>
        <p:spPr>
          <a:xfrm>
            <a:off x="480073" y="377190"/>
            <a:ext cx="8229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The 500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H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ighest-risk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A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ctive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ustomers -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R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eady to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M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ail</a:t>
            </a:r>
            <a:endParaRPr sz="1100"/>
          </a:p>
        </p:txBody>
      </p:sp>
      <p:sp>
        <p:nvSpPr>
          <p:cNvPr id="285" name="Google Shape;285;p44"/>
          <p:cNvSpPr/>
          <p:nvPr/>
        </p:nvSpPr>
        <p:spPr>
          <a:xfrm>
            <a:off x="480073" y="1371600"/>
            <a:ext cx="3772001" cy="3223260"/>
          </a:xfrm>
          <a:prstGeom prst="roundRect">
            <a:avLst>
              <a:gd name="adj" fmla="val 8000"/>
            </a:avLst>
          </a:prstGeom>
          <a:solidFill>
            <a:srgbClr val="EAF0F5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44"/>
          <p:cNvSpPr txBox="1"/>
          <p:nvPr/>
        </p:nvSpPr>
        <p:spPr>
          <a:xfrm>
            <a:off x="720109" y="1577340"/>
            <a:ext cx="3326100" cy="25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Top-500 </a:t>
            </a:r>
            <a:r>
              <a:rPr lang="en-GB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M</a:t>
            </a:r>
            <a:r>
              <a:rPr lang="en-GB" sz="14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ailer </a:t>
            </a:r>
            <a:r>
              <a:rPr lang="en-GB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L</a:t>
            </a:r>
            <a:r>
              <a:rPr lang="en-GB" sz="14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ist</a:t>
            </a:r>
            <a:endParaRPr sz="1100"/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GB" sz="900" i="1" u="none" strike="noStrike" cap="none">
                <a:solidFill>
                  <a:srgbClr val="A47147"/>
                </a:solidFill>
                <a:latin typeface="Georgia"/>
                <a:ea typeface="Georgia"/>
                <a:cs typeface="Georgia"/>
                <a:sym typeface="Georgia"/>
              </a:rPr>
              <a:t>for the marketing team</a:t>
            </a:r>
            <a:endParaRPr sz="900" i="1" u="none" strike="noStrike" cap="none">
              <a:solidFill>
                <a:srgbClr val="A47147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endParaRPr sz="900" i="1">
              <a:solidFill>
                <a:srgbClr val="A47147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500 highest-risk active customers, ranked by churn probability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Mean churn risk in the list: 75%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~100 retained at the expected 20% uptake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Assuming most of these customers are from Retained Cluster 1 (the Watchlist), average monthly charge ~$73 per month over 12-months </a:t>
            </a:r>
            <a:r>
              <a:rPr lang="en-GB" sz="6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✕</a:t>
            </a:r>
            <a:r>
              <a:rPr lang="en-GB" sz="1000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 100 customers = </a:t>
            </a:r>
            <a:r>
              <a:rPr lang="en-GB" sz="1000" b="1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$87,600 in retained revenue</a:t>
            </a:r>
            <a:r>
              <a:rPr lang="en-GB" sz="1000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.</a:t>
            </a:r>
            <a:endParaRPr sz="1000">
              <a:solidFill>
                <a:srgbClr val="21212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0">
              <a:solidFill>
                <a:srgbClr val="21212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800" i="1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File: top_500_at_risk.csv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87" name="Google Shape;287;p44"/>
          <p:cNvSpPr txBox="1"/>
          <p:nvPr/>
        </p:nvSpPr>
        <p:spPr>
          <a:xfrm>
            <a:off x="4457819" y="1405889"/>
            <a:ext cx="41835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Top of the </a:t>
            </a:r>
            <a:r>
              <a:rPr lang="en-GB" sz="1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L</a:t>
            </a:r>
            <a:r>
              <a:rPr lang="en-GB" sz="1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ist</a:t>
            </a:r>
            <a:endParaRPr sz="1100"/>
          </a:p>
        </p:txBody>
      </p:sp>
      <p:graphicFrame>
        <p:nvGraphicFramePr>
          <p:cNvPr id="288" name="Google Shape;288;p44"/>
          <p:cNvGraphicFramePr/>
          <p:nvPr/>
        </p:nvGraphicFramePr>
        <p:xfrm>
          <a:off x="4457819" y="1748790"/>
          <a:ext cx="4183450" cy="2194500"/>
        </p:xfrm>
        <a:graphic>
          <a:graphicData uri="http://schemas.openxmlformats.org/drawingml/2006/table">
            <a:tbl>
              <a:tblPr>
                <a:noFill/>
                <a:tableStyleId>{9CF64FCD-972A-4641-A23A-824053B4A756}</a:tableStyleId>
              </a:tblPr>
              <a:tblGrid>
                <a:gridCol w="75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solidFill>
                            <a:srgbClr val="FFFFFF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Rank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2C58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solidFill>
                            <a:srgbClr val="FFFFFF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Customer ID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2C58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solidFill>
                            <a:srgbClr val="FFFFFF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Risk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2C58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solidFill>
                            <a:srgbClr val="FFFFFF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Contract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2C58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2545-EBUPK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96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Month-to-month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5542-TBBWB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96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Month-to-month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8161-QYMTT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95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Month-to-month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4927-WWOOZ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94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Month-to-month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solidFill>
                            <a:srgbClr val="2C587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1452-VOQCH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0">
                          <a:solidFill>
                            <a:srgbClr val="21212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Month-to-month</a:t>
                      </a:r>
                      <a:endParaRPr sz="1100"/>
                    </a:p>
                  </a:txBody>
                  <a:tcPr marL="61725" marR="48000" marT="13725" marB="13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2C587E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45"/>
          <p:cNvSpPr txBox="1"/>
          <p:nvPr/>
        </p:nvSpPr>
        <p:spPr>
          <a:xfrm>
            <a:off x="685818" y="1714500"/>
            <a:ext cx="7749747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rgbClr val="DAC3B4"/>
                </a:solidFill>
                <a:latin typeface="Georgia"/>
                <a:ea typeface="Georgia"/>
                <a:cs typeface="Georgia"/>
                <a:sym typeface="Georgia"/>
              </a:rPr>
              <a:t>Question 5 of 5</a:t>
            </a:r>
            <a:endParaRPr sz="1100"/>
          </a:p>
        </p:txBody>
      </p:sp>
      <p:sp>
        <p:nvSpPr>
          <p:cNvPr id="295" name="Google Shape;295;p45"/>
          <p:cNvSpPr txBox="1"/>
          <p:nvPr/>
        </p:nvSpPr>
        <p:spPr>
          <a:xfrm>
            <a:off x="685818" y="2297430"/>
            <a:ext cx="77496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What is the </a:t>
            </a:r>
            <a:r>
              <a:rPr lang="en-GB" sz="2400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r>
              <a:rPr lang="en-GB" sz="24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hurn </a:t>
            </a:r>
            <a:r>
              <a:rPr lang="en-GB" sz="2400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R</a:t>
            </a:r>
            <a:r>
              <a:rPr lang="en-GB" sz="24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isk of our </a:t>
            </a:r>
            <a:r>
              <a:rPr lang="en-GB" sz="2400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R</a:t>
            </a:r>
            <a:r>
              <a:rPr lang="en-GB" sz="24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emaining </a:t>
            </a:r>
            <a:r>
              <a:rPr lang="en-GB" sz="2400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r>
              <a:rPr lang="en-GB" sz="2400" b="1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ustomers?</a:t>
            </a:r>
            <a:endParaRPr sz="11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6"/>
          <p:cNvSpPr txBox="1"/>
          <p:nvPr/>
        </p:nvSpPr>
        <p:spPr>
          <a:xfrm>
            <a:off x="480073" y="377190"/>
            <a:ext cx="8229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A 0-100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R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isk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S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core and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B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and for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E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very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R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emaining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ustomer</a:t>
            </a:r>
            <a:endParaRPr sz="1100"/>
          </a:p>
        </p:txBody>
      </p:sp>
      <p:pic>
        <p:nvPicPr>
          <p:cNvPr id="301" name="Google Shape;301;p46" descr="risk_bands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80073" y="1577340"/>
            <a:ext cx="4107319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6"/>
          <p:cNvSpPr/>
          <p:nvPr/>
        </p:nvSpPr>
        <p:spPr>
          <a:xfrm>
            <a:off x="4835019" y="1405889"/>
            <a:ext cx="3806291" cy="3257550"/>
          </a:xfrm>
          <a:prstGeom prst="roundRect">
            <a:avLst>
              <a:gd name="adj" fmla="val 8000"/>
            </a:avLst>
          </a:prstGeom>
          <a:solidFill>
            <a:srgbClr val="FBEAE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46"/>
          <p:cNvSpPr txBox="1"/>
          <p:nvPr/>
        </p:nvSpPr>
        <p:spPr>
          <a:xfrm>
            <a:off x="5075055" y="1611630"/>
            <a:ext cx="3360600" cy="174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Churn </a:t>
            </a:r>
            <a:r>
              <a:rPr lang="en-GB" b="1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R</a:t>
            </a:r>
            <a:r>
              <a:rPr lang="en-GB" sz="1400" b="1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isk </a:t>
            </a:r>
            <a:r>
              <a:rPr lang="en-GB" b="1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S</a:t>
            </a:r>
            <a:r>
              <a:rPr lang="en-GB" sz="1400" b="1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cores</a:t>
            </a:r>
            <a:endParaRPr sz="1100"/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GB" sz="900" b="0" i="1" u="none" strike="noStrike" cap="none">
                <a:solidFill>
                  <a:srgbClr val="A47147"/>
                </a:solidFill>
                <a:latin typeface="Calibri"/>
                <a:ea typeface="Calibri"/>
                <a:cs typeface="Calibri"/>
                <a:sym typeface="Calibri"/>
              </a:rPr>
              <a:t>for the customer-service team</a:t>
            </a:r>
            <a:endParaRPr sz="900" b="0" i="1" u="none" strike="noStrike" cap="none">
              <a:solidFill>
                <a:srgbClr val="A4714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endParaRPr sz="900" i="1">
              <a:solidFill>
                <a:srgbClr val="A4714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All 5,174 active customers scored by the same model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Each given a</a:t>
            </a:r>
            <a:r>
              <a:rPr lang="en-GB" sz="10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0-100 risk score </a:t>
            </a:r>
            <a:r>
              <a:rPr lang="en-GB" sz="1000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&amp;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 Low/Medium/High band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651 High </a:t>
            </a:r>
            <a:r>
              <a:rPr lang="en-GB" sz="1000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|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1,254 Medium </a:t>
            </a:r>
            <a:r>
              <a:rPr lang="en-GB" sz="1000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|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3,269 Low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Shown on-screen during live calls to prioritise retention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800" i="1" u="none" strike="noStrike" cap="none">
                <a:solidFill>
                  <a:srgbClr val="5F5E5A"/>
                </a:solidFill>
                <a:latin typeface="Georgia"/>
                <a:ea typeface="Georgia"/>
                <a:cs typeface="Georgia"/>
                <a:sym typeface="Georgia"/>
              </a:rPr>
              <a:t>File: churn_risk_scores.csv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47"/>
          <p:cNvSpPr txBox="1"/>
          <p:nvPr/>
        </p:nvSpPr>
        <p:spPr>
          <a:xfrm>
            <a:off x="480073" y="377190"/>
            <a:ext cx="8229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Summary and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R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ecommended </a:t>
            </a:r>
            <a:r>
              <a:rPr lang="en-GB" sz="20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A</a:t>
            </a:r>
            <a:r>
              <a:rPr lang="en-GB" sz="20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ctions</a:t>
            </a:r>
            <a:endParaRPr sz="1100"/>
          </a:p>
        </p:txBody>
      </p:sp>
      <p:sp>
        <p:nvSpPr>
          <p:cNvPr id="309" name="Google Shape;309;p47"/>
          <p:cNvSpPr txBox="1"/>
          <p:nvPr/>
        </p:nvSpPr>
        <p:spPr>
          <a:xfrm>
            <a:off x="480073" y="1371600"/>
            <a:ext cx="4046400" cy="26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Key </a:t>
            </a:r>
            <a:r>
              <a:rPr lang="en-GB" sz="13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F</a:t>
            </a:r>
            <a:r>
              <a:rPr lang="en-GB" sz="13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indings</a:t>
            </a:r>
            <a:endParaRPr sz="1300" b="1" i="0" u="none" strike="noStrike" cap="none">
              <a:solidFill>
                <a:srgbClr val="2C587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2C587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•</a:t>
            </a:r>
            <a:r>
              <a:rPr lang="en-GB" sz="11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  </a:t>
            </a:r>
            <a:r>
              <a:rPr lang="en-GB" sz="11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~27% churn rat</a:t>
            </a:r>
            <a:r>
              <a:rPr lang="en-GB" sz="1100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e</a:t>
            </a:r>
            <a:r>
              <a:rPr lang="en-GB" sz="11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, front-loaded and concentrated in month-to-month fibre customers</a:t>
            </a:r>
            <a:endParaRPr sz="1100" i="0" u="none" strike="noStrike" cap="none">
              <a:solidFill>
                <a:srgbClr val="21212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100">
              <a:solidFill>
                <a:srgbClr val="21212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1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1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The</a:t>
            </a:r>
            <a:r>
              <a:rPr lang="en-GB" sz="1100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se customers</a:t>
            </a:r>
            <a:r>
              <a:rPr lang="en-GB" sz="11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 leave for better competitor offers and poor support experience, not raw price</a:t>
            </a:r>
            <a:endParaRPr sz="1100" i="0" u="none" strike="noStrike" cap="none">
              <a:solidFill>
                <a:srgbClr val="21212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100">
              <a:solidFill>
                <a:srgbClr val="21212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1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1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Term contracts and add-ons are the strongest retention levers</a:t>
            </a:r>
            <a:endParaRPr sz="1100" i="0" u="none" strike="noStrike" cap="none">
              <a:solidFill>
                <a:srgbClr val="21212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100">
              <a:solidFill>
                <a:srgbClr val="21212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100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•  </a:t>
            </a:r>
            <a:r>
              <a:rPr lang="en-GB" sz="11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The model reliably provides a risk score</a:t>
            </a:r>
            <a:r>
              <a:rPr lang="en-GB" sz="1100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 to</a:t>
            </a:r>
            <a:r>
              <a:rPr lang="en-GB" sz="11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 every customer (test AUC 0.85)</a:t>
            </a:r>
            <a:endParaRPr sz="1100"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10" name="Google Shape;310;p47"/>
          <p:cNvSpPr/>
          <p:nvPr/>
        </p:nvSpPr>
        <p:spPr>
          <a:xfrm>
            <a:off x="4732146" y="1371600"/>
            <a:ext cx="3909300" cy="3291900"/>
          </a:xfrm>
          <a:prstGeom prst="roundRect">
            <a:avLst>
              <a:gd name="adj" fmla="val 8000"/>
            </a:avLst>
          </a:prstGeom>
          <a:solidFill>
            <a:srgbClr val="EAF0F5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47"/>
          <p:cNvSpPr txBox="1"/>
          <p:nvPr/>
        </p:nvSpPr>
        <p:spPr>
          <a:xfrm>
            <a:off x="4972183" y="1577340"/>
            <a:ext cx="3463500" cy="226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Recommended </a:t>
            </a:r>
            <a:r>
              <a:rPr lang="en-GB" sz="1300" b="1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A</a:t>
            </a:r>
            <a:r>
              <a:rPr lang="en-GB" sz="1300" b="1" i="0" u="none" strike="noStrike" cap="none">
                <a:solidFill>
                  <a:srgbClr val="2C587E"/>
                </a:solidFill>
                <a:latin typeface="Georgia"/>
                <a:ea typeface="Georgia"/>
                <a:cs typeface="Georgia"/>
                <a:sym typeface="Georgia"/>
              </a:rPr>
              <a:t>ctions</a:t>
            </a:r>
            <a:endParaRPr sz="1300" b="1" i="0" u="none" strike="noStrike" cap="none">
              <a:solidFill>
                <a:srgbClr val="2C587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2C587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000" b="1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1.  </a:t>
            </a:r>
            <a:r>
              <a:rPr lang="en-GB" sz="1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Allocate the $2.50 incentive to Online Security add-on sign-ups</a:t>
            </a:r>
            <a:endParaRPr sz="1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000" b="1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r>
              <a:rPr lang="en-GB" sz="1000" b="1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.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Launch the Top-500 mailer with an Online Security offer</a:t>
            </a:r>
            <a:endParaRPr sz="10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000" b="1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r>
              <a:rPr lang="en-GB" sz="1000" b="1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.  </a:t>
            </a:r>
            <a:r>
              <a:rPr lang="en-GB" sz="1000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Push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 month-to-month customers onto term contracts</a:t>
            </a:r>
            <a:endParaRPr sz="10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000" b="1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4</a:t>
            </a:r>
            <a:r>
              <a:rPr lang="en-GB" sz="1000" b="1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.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Fix the support experience </a:t>
            </a:r>
            <a:r>
              <a:rPr lang="en-GB" sz="1000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(attitude/expertise)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- a top-3 churn reason</a:t>
            </a:r>
            <a:endParaRPr sz="1000"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000" b="1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5</a:t>
            </a:r>
            <a:r>
              <a:rPr lang="en-GB" sz="1000" b="1" i="0" u="none" strike="noStrike" cap="none">
                <a:solidFill>
                  <a:srgbClr val="D15115"/>
                </a:solidFill>
                <a:latin typeface="Georgia"/>
                <a:ea typeface="Georgia"/>
                <a:cs typeface="Georgia"/>
                <a:sym typeface="Georgia"/>
              </a:rPr>
              <a:t>.  </a:t>
            </a:r>
            <a:r>
              <a:rPr lang="en-GB" sz="1000" i="0" u="none" strike="noStrike" cap="none">
                <a:solidFill>
                  <a:srgbClr val="212121"/>
                </a:solidFill>
                <a:latin typeface="Georgia"/>
                <a:ea typeface="Georgia"/>
                <a:cs typeface="Georgia"/>
                <a:sym typeface="Georgia"/>
              </a:rPr>
              <a:t>Give the service team the risk scores for live calls</a:t>
            </a:r>
            <a:endParaRPr sz="1000" i="0" u="none" strike="noStrike" cap="none">
              <a:solidFill>
                <a:srgbClr val="21212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endParaRPr sz="1100">
              <a:solidFill>
                <a:srgbClr val="21212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1883</Words>
  <Application>Microsoft Office PowerPoint</Application>
  <PresentationFormat>On-screen Show (16:9)</PresentationFormat>
  <Paragraphs>279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Georgia</vt:lpstr>
      <vt:lpstr>Simple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Ben Kelly</cp:lastModifiedBy>
  <cp:revision>1</cp:revision>
  <dcterms:modified xsi:type="dcterms:W3CDTF">2026-07-31T14:26:25Z</dcterms:modified>
</cp:coreProperties>
</file>