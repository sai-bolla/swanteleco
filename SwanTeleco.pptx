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6DD356D-7530-47AD-A647-A0787A634382}">
  <a:tblStyle styleId="{56DD356D-7530-47AD-A647-A0787A63438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8b8972c69d_1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8b8972c69d_1_75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8b8972c69d_1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g38b8972c69d_1_82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8b8972c69d_1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g38b8972c69d_1_96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8b8972c69d_1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g38b8972c69d_1_101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8b8972c69d_1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g38b8972c69d_1_109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8b8972c69d_1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g38b8972c69d_1_115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8b8972c69d_1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g38b8972c69d_1_121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8b8972c69d_1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g38b8972c69d_1_128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8b8972c69d_1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g38b8972c69d_1_143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8b8972c69d_1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g38b8972c69d_1_150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8b8972c69d_1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g38b8972c69d_1_157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8b8972c69d_1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g38b8972c69d_1_134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8b8972c69d_1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g38b8972c69d_1_166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8b8972c69d_1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g38b8972c69d_1_172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8b8972c69d_1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g38b8972c69d_1_179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8b8972c69d_1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g38b8972c69d_1_185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8b8972c69d_1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g38b8972c69d_1_192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8b8972c69d_1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g38b8972c69d_1_198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8b8972c69d_1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g38b8972c69d_1_204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8b8972c69d_1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g38b8972c69d_1_210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8b8972c69d_1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g38b8972c69d_1_218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8b8972c69d_1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g38b8972c69d_1_224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8b8972c69d_1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g38b8972c69d_1_231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514364" y="1597819"/>
            <a:ext cx="5829455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1028727" y="2914650"/>
            <a:ext cx="4800728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342909" y="1200150"/>
            <a:ext cx="6172365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541749" y="3305175"/>
            <a:ext cx="5829455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1" sz="3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541749" y="2180035"/>
            <a:ext cx="5829455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342909" y="1200150"/>
            <a:ext cx="3029031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3486243" y="1200150"/>
            <a:ext cx="3029031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342909" y="1151335"/>
            <a:ext cx="3030222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342909" y="1631156"/>
            <a:ext cx="3030222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3483862" y="1151335"/>
            <a:ext cx="3031412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3483862" y="1631156"/>
            <a:ext cx="3031412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342909" y="204788"/>
            <a:ext cx="2256295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2681359" y="204788"/>
            <a:ext cx="3833915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342909" y="1076325"/>
            <a:ext cx="2256295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344252" y="3600450"/>
            <a:ext cx="411491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344252" y="459581"/>
            <a:ext cx="411491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344252" y="4025503"/>
            <a:ext cx="411491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1731855" y="-188796"/>
            <a:ext cx="3394472" cy="617236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3549406" y="1628755"/>
            <a:ext cx="4388644" cy="154309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406072" y="142815"/>
            <a:ext cx="4388644" cy="45149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2909" y="1200150"/>
            <a:ext cx="6172365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wan_Teleco.jpg" id="129" name="Google Shape;12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08807" y="788670"/>
            <a:ext cx="4526280" cy="2555655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5"/>
          <p:cNvSpPr txBox="1"/>
          <p:nvPr/>
        </p:nvSpPr>
        <p:spPr>
          <a:xfrm>
            <a:off x="1028727" y="3394710"/>
            <a:ext cx="70866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300" u="none" cap="none" strike="noStrike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Customer </a:t>
            </a:r>
            <a:r>
              <a:rPr b="1" lang="en-GB" sz="2300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R</a:t>
            </a:r>
            <a:r>
              <a:rPr b="1" i="0" lang="en-GB" sz="2300" u="none" cap="none" strike="noStrike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etention: EDA, </a:t>
            </a:r>
            <a:r>
              <a:rPr b="1" lang="en-GB" sz="2300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S</a:t>
            </a:r>
            <a:r>
              <a:rPr b="1" i="0" lang="en-GB" sz="2300" u="none" cap="none" strike="noStrike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egmentation &amp; </a:t>
            </a:r>
            <a:r>
              <a:rPr b="1" lang="en-GB" sz="2300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C</a:t>
            </a:r>
            <a:r>
              <a:rPr b="1" i="0" lang="en-GB" sz="2300" u="none" cap="none" strike="noStrike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hurn </a:t>
            </a:r>
            <a:r>
              <a:rPr b="1" lang="en-GB" sz="2300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M</a:t>
            </a:r>
            <a:r>
              <a:rPr b="1" i="0" lang="en-GB" sz="2300" u="none" cap="none" strike="noStrike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odelling</a:t>
            </a:r>
            <a:endParaRPr sz="1100"/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i="0" lang="en-GB" sz="1200" u="none" cap="none" strike="noStrike">
                <a:solidFill>
                  <a:srgbClr val="5F5E5A"/>
                </a:solidFill>
                <a:latin typeface="Georgia"/>
                <a:ea typeface="Georgia"/>
                <a:cs typeface="Georgia"/>
                <a:sym typeface="Georgia"/>
              </a:rPr>
              <a:t>Answering the </a:t>
            </a:r>
            <a:r>
              <a:rPr lang="en-GB" sz="1200">
                <a:solidFill>
                  <a:srgbClr val="5F5E5A"/>
                </a:solidFill>
                <a:latin typeface="Georgia"/>
                <a:ea typeface="Georgia"/>
                <a:cs typeface="Georgia"/>
                <a:sym typeface="Georgia"/>
              </a:rPr>
              <a:t>R</a:t>
            </a:r>
            <a:r>
              <a:rPr i="0" lang="en-GB" sz="1200" u="none" cap="none" strike="noStrike">
                <a:solidFill>
                  <a:srgbClr val="5F5E5A"/>
                </a:solidFill>
                <a:latin typeface="Georgia"/>
                <a:ea typeface="Georgia"/>
                <a:cs typeface="Georgia"/>
                <a:sym typeface="Georgia"/>
              </a:rPr>
              <a:t>etention </a:t>
            </a:r>
            <a:r>
              <a:rPr lang="en-GB" sz="1200">
                <a:solidFill>
                  <a:srgbClr val="5F5E5A"/>
                </a:solidFill>
                <a:latin typeface="Georgia"/>
                <a:ea typeface="Georgia"/>
                <a:cs typeface="Georgia"/>
                <a:sym typeface="Georgia"/>
              </a:rPr>
              <a:t>B</a:t>
            </a:r>
            <a:r>
              <a:rPr i="0" lang="en-GB" sz="1200" u="none" cap="none" strike="noStrike">
                <a:solidFill>
                  <a:srgbClr val="5F5E5A"/>
                </a:solidFill>
                <a:latin typeface="Georgia"/>
                <a:ea typeface="Georgia"/>
                <a:cs typeface="Georgia"/>
                <a:sym typeface="Georgia"/>
              </a:rPr>
              <a:t>rief on the </a:t>
            </a:r>
            <a:r>
              <a:rPr lang="en-GB" sz="1200">
                <a:solidFill>
                  <a:srgbClr val="5F5E5A"/>
                </a:solidFill>
                <a:latin typeface="Georgia"/>
                <a:ea typeface="Georgia"/>
                <a:cs typeface="Georgia"/>
                <a:sym typeface="Georgia"/>
              </a:rPr>
              <a:t>S</a:t>
            </a:r>
            <a:r>
              <a:rPr i="0" lang="en-GB" sz="1200" u="none" cap="none" strike="noStrike">
                <a:solidFill>
                  <a:srgbClr val="5F5E5A"/>
                </a:solidFill>
                <a:latin typeface="Georgia"/>
                <a:ea typeface="Georgia"/>
                <a:cs typeface="Georgia"/>
                <a:sym typeface="Georgia"/>
              </a:rPr>
              <a:t>ingle </a:t>
            </a:r>
            <a:r>
              <a:rPr lang="en-GB" sz="1200">
                <a:solidFill>
                  <a:srgbClr val="5F5E5A"/>
                </a:solidFill>
                <a:latin typeface="Georgia"/>
                <a:ea typeface="Georgia"/>
                <a:cs typeface="Georgia"/>
                <a:sym typeface="Georgia"/>
              </a:rPr>
              <a:t>C</a:t>
            </a:r>
            <a:r>
              <a:rPr i="0" lang="en-GB" sz="1200" u="none" cap="none" strike="noStrike">
                <a:solidFill>
                  <a:srgbClr val="5F5E5A"/>
                </a:solidFill>
                <a:latin typeface="Georgia"/>
                <a:ea typeface="Georgia"/>
                <a:cs typeface="Georgia"/>
                <a:sym typeface="Georgia"/>
              </a:rPr>
              <a:t>ustomer </a:t>
            </a:r>
            <a:r>
              <a:rPr lang="en-GB" sz="1200">
                <a:solidFill>
                  <a:srgbClr val="5F5E5A"/>
                </a:solidFill>
                <a:latin typeface="Georgia"/>
                <a:ea typeface="Georgia"/>
                <a:cs typeface="Georgia"/>
                <a:sym typeface="Georgia"/>
              </a:rPr>
              <a:t>V</a:t>
            </a:r>
            <a:r>
              <a:rPr i="0" lang="en-GB" sz="1200" u="none" cap="none" strike="noStrike">
                <a:solidFill>
                  <a:srgbClr val="5F5E5A"/>
                </a:solidFill>
                <a:latin typeface="Georgia"/>
                <a:ea typeface="Georgia"/>
                <a:cs typeface="Georgia"/>
                <a:sym typeface="Georgia"/>
              </a:rPr>
              <a:t>iew (7,043 customers)</a:t>
            </a:r>
            <a:endParaRPr sz="11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1" name="Google Shape;131;p25"/>
          <p:cNvSpPr txBox="1"/>
          <p:nvPr/>
        </p:nvSpPr>
        <p:spPr>
          <a:xfrm>
            <a:off x="1028727" y="4594860"/>
            <a:ext cx="708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900" u="none" cap="none" strike="noStrike">
                <a:solidFill>
                  <a:srgbClr val="A47147"/>
                </a:solidFill>
                <a:latin typeface="Georgia"/>
                <a:ea typeface="Georgia"/>
                <a:cs typeface="Georgia"/>
                <a:sym typeface="Georgia"/>
              </a:rPr>
              <a:t>Technical walkthrough  ·  Retention team</a:t>
            </a:r>
            <a:r>
              <a:rPr b="0" i="0" lang="en-GB" sz="900" u="none" cap="none" strike="noStrike">
                <a:solidFill>
                  <a:srgbClr val="A4714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6"/>
          <p:cNvSpPr txBox="1"/>
          <p:nvPr/>
        </p:nvSpPr>
        <p:spPr>
          <a:xfrm>
            <a:off x="480073" y="377190"/>
            <a:ext cx="8229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The </a:t>
            </a:r>
            <a:r>
              <a:rPr b="1" lang="en-GB" sz="2000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R</a:t>
            </a:r>
            <a:r>
              <a:rPr b="1" i="0" lang="en-GB" sz="2000" u="none" cap="none" strike="noStrike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etention </a:t>
            </a:r>
            <a:r>
              <a:rPr b="1" lang="en-GB" sz="2000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B</a:t>
            </a:r>
            <a:r>
              <a:rPr b="1" i="0" lang="en-GB" sz="2000" u="none" cap="none" strike="noStrike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rief in </a:t>
            </a:r>
            <a:r>
              <a:rPr b="1" lang="en-GB" sz="2000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F</a:t>
            </a:r>
            <a:r>
              <a:rPr b="1" i="0" lang="en-GB" sz="2000" u="none" cap="none" strike="noStrike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ive </a:t>
            </a:r>
            <a:r>
              <a:rPr b="1" lang="en-GB" sz="2000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Q</a:t>
            </a:r>
            <a:r>
              <a:rPr b="1" i="0" lang="en-GB" sz="2000" u="none" cap="none" strike="noStrike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uestions</a:t>
            </a:r>
            <a:endParaRPr sz="1100"/>
          </a:p>
        </p:txBody>
      </p:sp>
      <p:sp>
        <p:nvSpPr>
          <p:cNvPr id="137" name="Google Shape;137;p26"/>
          <p:cNvSpPr/>
          <p:nvPr/>
        </p:nvSpPr>
        <p:spPr>
          <a:xfrm>
            <a:off x="480073" y="1200150"/>
            <a:ext cx="315476" cy="315468"/>
          </a:xfrm>
          <a:prstGeom prst="ellipse">
            <a:avLst/>
          </a:prstGeom>
          <a:solidFill>
            <a:srgbClr val="2C587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1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sz="1100"/>
          </a:p>
        </p:txBody>
      </p:sp>
      <p:sp>
        <p:nvSpPr>
          <p:cNvPr id="138" name="Google Shape;138;p26"/>
          <p:cNvSpPr txBox="1"/>
          <p:nvPr/>
        </p:nvSpPr>
        <p:spPr>
          <a:xfrm>
            <a:off x="960146" y="1159002"/>
            <a:ext cx="7749600" cy="3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200" u="none" cap="none" strike="noStrike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What do churners look like, and what products do they have?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i="0" lang="en-GB" sz="1000" u="none" cap="none" strike="noStrike">
                <a:solidFill>
                  <a:srgbClr val="5F5E5A"/>
                </a:solidFill>
                <a:latin typeface="Georgia"/>
                <a:ea typeface="Georgia"/>
                <a:cs typeface="Georgia"/>
                <a:sym typeface="Georgia"/>
              </a:rPr>
              <a:t>Fibre-heavy with high charges and few add-ons; more often senior and single. Gender is not a factor.</a:t>
            </a:r>
            <a:endParaRPr sz="11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9" name="Google Shape;139;p26"/>
          <p:cNvSpPr/>
          <p:nvPr/>
        </p:nvSpPr>
        <p:spPr>
          <a:xfrm>
            <a:off x="480073" y="1920240"/>
            <a:ext cx="315476" cy="315468"/>
          </a:xfrm>
          <a:prstGeom prst="ellipse">
            <a:avLst/>
          </a:prstGeom>
          <a:solidFill>
            <a:srgbClr val="2C587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1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sz="1100"/>
          </a:p>
        </p:txBody>
      </p:sp>
      <p:sp>
        <p:nvSpPr>
          <p:cNvPr id="140" name="Google Shape;140;p26"/>
          <p:cNvSpPr txBox="1"/>
          <p:nvPr/>
        </p:nvSpPr>
        <p:spPr>
          <a:xfrm>
            <a:off x="960146" y="1879092"/>
            <a:ext cx="7749600" cy="3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200" u="none" cap="none" strike="noStrike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Why are they churning?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i="0" lang="en-GB" sz="1000" u="none" cap="none" strike="noStrike">
                <a:solidFill>
                  <a:srgbClr val="5F5E5A"/>
                </a:solidFill>
                <a:latin typeface="Georgia"/>
                <a:ea typeface="Georgia"/>
                <a:cs typeface="Georgia"/>
                <a:sym typeface="Georgia"/>
              </a:rPr>
              <a:t>Mostly competitor offers and poor service - not raw price.</a:t>
            </a:r>
            <a:endParaRPr sz="11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41" name="Google Shape;141;p26"/>
          <p:cNvSpPr/>
          <p:nvPr/>
        </p:nvSpPr>
        <p:spPr>
          <a:xfrm>
            <a:off x="480073" y="2640329"/>
            <a:ext cx="315476" cy="315468"/>
          </a:xfrm>
          <a:prstGeom prst="ellipse">
            <a:avLst/>
          </a:prstGeom>
          <a:solidFill>
            <a:srgbClr val="2C587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1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sz="1100"/>
          </a:p>
        </p:txBody>
      </p:sp>
      <p:sp>
        <p:nvSpPr>
          <p:cNvPr id="142" name="Google Shape;142;p26"/>
          <p:cNvSpPr txBox="1"/>
          <p:nvPr/>
        </p:nvSpPr>
        <p:spPr>
          <a:xfrm>
            <a:off x="960146" y="2599181"/>
            <a:ext cx="7749600" cy="3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200" u="none" cap="none" strike="noStrike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What makes customers stay, and what should we incentivise?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i="0" lang="en-GB" sz="1000" u="none" cap="none" strike="noStrike">
                <a:solidFill>
                  <a:srgbClr val="5F5E5A"/>
                </a:solidFill>
                <a:latin typeface="Georgia"/>
                <a:ea typeface="Georgia"/>
                <a:cs typeface="Georgia"/>
                <a:sym typeface="Georgia"/>
              </a:rPr>
              <a:t>Term contracts and add-ons. </a:t>
            </a:r>
            <a:r>
              <a:rPr lang="en-GB" sz="1000">
                <a:solidFill>
                  <a:srgbClr val="5F5E5A"/>
                </a:solidFill>
                <a:latin typeface="Georgia"/>
                <a:ea typeface="Georgia"/>
                <a:cs typeface="Georgia"/>
                <a:sym typeface="Georgia"/>
              </a:rPr>
              <a:t>Allocate the $2.50 employee incentive</a:t>
            </a:r>
            <a:r>
              <a:rPr i="0" lang="en-GB" sz="1000" u="none" cap="none" strike="noStrike">
                <a:solidFill>
                  <a:srgbClr val="5F5E5A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GB" sz="1000">
                <a:solidFill>
                  <a:srgbClr val="5F5E5A"/>
                </a:solidFill>
                <a:latin typeface="Georgia"/>
                <a:ea typeface="Georgia"/>
                <a:cs typeface="Georgia"/>
                <a:sym typeface="Georgia"/>
              </a:rPr>
              <a:t>to</a:t>
            </a:r>
            <a:r>
              <a:rPr i="0" lang="en-GB" sz="1000" u="none" cap="none" strike="noStrike">
                <a:solidFill>
                  <a:srgbClr val="5F5E5A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b="1" i="0" lang="en-GB" sz="1000" u="none" cap="none" strike="noStrike">
                <a:solidFill>
                  <a:srgbClr val="5F5E5A"/>
                </a:solidFill>
                <a:latin typeface="Georgia"/>
                <a:ea typeface="Georgia"/>
                <a:cs typeface="Georgia"/>
                <a:sym typeface="Georgia"/>
              </a:rPr>
              <a:t>Online Security sign-ups</a:t>
            </a:r>
            <a:r>
              <a:rPr i="0" lang="en-GB" sz="1000" u="none" cap="none" strike="noStrike">
                <a:solidFill>
                  <a:srgbClr val="5F5E5A"/>
                </a:solidFill>
                <a:latin typeface="Georgia"/>
                <a:ea typeface="Georgia"/>
                <a:cs typeface="Georgia"/>
                <a:sym typeface="Georgia"/>
              </a:rPr>
              <a:t>.</a:t>
            </a:r>
            <a:endParaRPr sz="11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43" name="Google Shape;143;p26"/>
          <p:cNvSpPr/>
          <p:nvPr/>
        </p:nvSpPr>
        <p:spPr>
          <a:xfrm>
            <a:off x="480073" y="3360419"/>
            <a:ext cx="315476" cy="315468"/>
          </a:xfrm>
          <a:prstGeom prst="ellipse">
            <a:avLst/>
          </a:prstGeom>
          <a:solidFill>
            <a:srgbClr val="2C587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1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 sz="1100"/>
          </a:p>
        </p:txBody>
      </p:sp>
      <p:sp>
        <p:nvSpPr>
          <p:cNvPr id="144" name="Google Shape;144;p26"/>
          <p:cNvSpPr txBox="1"/>
          <p:nvPr/>
        </p:nvSpPr>
        <p:spPr>
          <a:xfrm>
            <a:off x="960146" y="3319272"/>
            <a:ext cx="7749600" cy="3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200" u="none" cap="none" strike="noStrike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Which 500 customers should get the retention mailer?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i="0" lang="en-GB" sz="1000" u="none" cap="none" strike="noStrike">
                <a:solidFill>
                  <a:srgbClr val="5F5E5A"/>
                </a:solidFill>
                <a:latin typeface="Georgia"/>
                <a:ea typeface="Georgia"/>
                <a:cs typeface="Georgia"/>
                <a:sym typeface="Georgia"/>
              </a:rPr>
              <a:t>A ranked Top-500 at-risk list (mean risk 75%; ~100 retained at the expected 20% uptake).</a:t>
            </a:r>
            <a:endParaRPr sz="11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45" name="Google Shape;145;p26"/>
          <p:cNvSpPr/>
          <p:nvPr/>
        </p:nvSpPr>
        <p:spPr>
          <a:xfrm>
            <a:off x="480073" y="4080509"/>
            <a:ext cx="315476" cy="315468"/>
          </a:xfrm>
          <a:prstGeom prst="ellipse">
            <a:avLst/>
          </a:prstGeom>
          <a:solidFill>
            <a:srgbClr val="2C587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1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5</a:t>
            </a:r>
            <a:endParaRPr sz="1100"/>
          </a:p>
        </p:txBody>
      </p:sp>
      <p:sp>
        <p:nvSpPr>
          <p:cNvPr id="146" name="Google Shape;146;p26"/>
          <p:cNvSpPr txBox="1"/>
          <p:nvPr/>
        </p:nvSpPr>
        <p:spPr>
          <a:xfrm>
            <a:off x="960146" y="4039362"/>
            <a:ext cx="7749600" cy="3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200" u="none" cap="none" strike="noStrike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What is the churn risk of our remaining customers?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i="0" lang="en-GB" sz="1000" u="none" cap="none" strike="noStrike">
                <a:solidFill>
                  <a:srgbClr val="5F5E5A"/>
                </a:solidFill>
                <a:latin typeface="Georgia"/>
                <a:ea typeface="Georgia"/>
                <a:cs typeface="Georgia"/>
                <a:sym typeface="Georgia"/>
              </a:rPr>
              <a:t>A 0-100 score </a:t>
            </a:r>
            <a:r>
              <a:rPr lang="en-GB" sz="1000">
                <a:solidFill>
                  <a:srgbClr val="5F5E5A"/>
                </a:solidFill>
                <a:latin typeface="Georgia"/>
                <a:ea typeface="Georgia"/>
                <a:cs typeface="Georgia"/>
                <a:sym typeface="Georgia"/>
              </a:rPr>
              <a:t>&amp;</a:t>
            </a:r>
            <a:r>
              <a:rPr i="0" lang="en-GB" sz="1000" u="none" cap="none" strike="noStrike">
                <a:solidFill>
                  <a:srgbClr val="5F5E5A"/>
                </a:solidFill>
                <a:latin typeface="Georgia"/>
                <a:ea typeface="Georgia"/>
                <a:cs typeface="Georgia"/>
                <a:sym typeface="Georgia"/>
              </a:rPr>
              <a:t> Low/Medium/High band for all 5,174 active customers.</a:t>
            </a:r>
            <a:endParaRPr sz="1100"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7"/>
          <p:cNvSpPr txBox="1"/>
          <p:nvPr/>
        </p:nvSpPr>
        <p:spPr>
          <a:xfrm>
            <a:off x="480073" y="377190"/>
            <a:ext cx="8229900" cy="5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The </a:t>
            </a:r>
            <a:r>
              <a:rPr b="1" lang="en-GB" sz="2000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D</a:t>
            </a:r>
            <a:r>
              <a:rPr b="1" i="0" lang="en-GB" sz="2000" u="none" cap="none" strike="noStrike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ata: </a:t>
            </a:r>
            <a:r>
              <a:rPr b="1" lang="en-GB" sz="2000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A</a:t>
            </a:r>
            <a:r>
              <a:rPr b="1" i="0" lang="en-GB" sz="2000" u="none" cap="none" strike="noStrike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b="1" lang="en-GB" sz="2000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S</a:t>
            </a:r>
            <a:r>
              <a:rPr b="1" i="0" lang="en-GB" sz="2000" u="none" cap="none" strike="noStrike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ingle </a:t>
            </a:r>
            <a:r>
              <a:rPr b="1" lang="en-GB" sz="2000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C</a:t>
            </a:r>
            <a:r>
              <a:rPr b="1" i="0" lang="en-GB" sz="2000" u="none" cap="none" strike="noStrike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ustomer </a:t>
            </a:r>
            <a:r>
              <a:rPr b="1" lang="en-GB" sz="2000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V</a:t>
            </a:r>
            <a:r>
              <a:rPr b="1" i="0" lang="en-GB" sz="2000" u="none" cap="none" strike="noStrike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iew of Swan Teleco's </a:t>
            </a:r>
            <a:r>
              <a:rPr b="1" lang="en-GB" sz="2000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C</a:t>
            </a:r>
            <a:r>
              <a:rPr b="1" i="0" lang="en-GB" sz="2000" u="none" cap="none" strike="noStrike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ustomers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i="0" lang="en-GB" sz="1000" u="none" cap="none" strike="noStrike">
                <a:solidFill>
                  <a:srgbClr val="5F5E5A"/>
                </a:solidFill>
                <a:latin typeface="Georgia"/>
                <a:ea typeface="Georgia"/>
                <a:cs typeface="Georgia"/>
                <a:sym typeface="Georgia"/>
              </a:rPr>
              <a:t>7,043 customers  ·  31 columns  ·  all in California  ·  one quarter of activity  ·  26.5% churned</a:t>
            </a:r>
            <a:endParaRPr sz="1100">
              <a:latin typeface="Georgia"/>
              <a:ea typeface="Georgia"/>
              <a:cs typeface="Georgia"/>
              <a:sym typeface="Georgia"/>
            </a:endParaRPr>
          </a:p>
        </p:txBody>
      </p:sp>
      <p:graphicFrame>
        <p:nvGraphicFramePr>
          <p:cNvPr id="152" name="Google Shape;152;p27"/>
          <p:cNvGraphicFramePr/>
          <p:nvPr/>
        </p:nvGraphicFramePr>
        <p:xfrm>
          <a:off x="514364" y="147447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{56DD356D-7530-47AD-A647-A0787A634382}</a:tableStyleId>
              </a:tblPr>
              <a:tblGrid>
                <a:gridCol w="1714525"/>
                <a:gridCol w="4629250"/>
                <a:gridCol w="1783125"/>
              </a:tblGrid>
              <a:tr h="44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 u="none" cap="none" strike="noStrike">
                          <a:solidFill>
                            <a:srgbClr val="FFFFFF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Group</a:t>
                      </a:r>
                      <a:endParaRPr sz="1100"/>
                    </a:p>
                  </a:txBody>
                  <a:tcPr marT="13725" marB="13725" marR="48000" marL="61725" anchor="ctr">
                    <a:solidFill>
                      <a:srgbClr val="2C58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>
                          <a:solidFill>
                            <a:srgbClr val="FFFFFF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Fields</a:t>
                      </a:r>
                      <a:endParaRPr sz="1100"/>
                    </a:p>
                  </a:txBody>
                  <a:tcPr marT="13725" marB="13725" marR="48000" marL="61725" anchor="ctr">
                    <a:solidFill>
                      <a:srgbClr val="2C58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>
                          <a:solidFill>
                            <a:srgbClr val="FFFFFF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Type / note</a:t>
                      </a:r>
                      <a:endParaRPr sz="1100"/>
                    </a:p>
                  </a:txBody>
                  <a:tcPr marT="13725" marB="13725" marR="48000" marL="61725" anchor="ctr">
                    <a:solidFill>
                      <a:srgbClr val="2C587E"/>
                    </a:solidFill>
                  </a:tcPr>
                </a:tc>
              </a:tr>
              <a:tr h="44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>
                          <a:solidFill>
                            <a:srgbClr val="2C587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Identifiers &amp; location</a:t>
                      </a:r>
                      <a:endParaRPr sz="1100"/>
                    </a:p>
                  </a:txBody>
                  <a:tcPr marT="13725" marB="13725" marR="48000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CustomerID, City, Zip Code, Lat Long, Latitude, Longitude</a:t>
                      </a:r>
                      <a:endParaRPr sz="1100"/>
                    </a:p>
                  </a:txBody>
                  <a:tcPr marT="13725" marB="13725" marR="48000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PII - kept out of the model</a:t>
                      </a:r>
                      <a:endParaRPr sz="1100"/>
                    </a:p>
                  </a:txBody>
                  <a:tcPr marT="13725" marB="13725" marR="48000" marL="61725" anchor="ctr">
                    <a:solidFill>
                      <a:srgbClr val="FFFFFF"/>
                    </a:solidFill>
                  </a:tcPr>
                </a:tc>
              </a:tr>
              <a:tr h="44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>
                          <a:solidFill>
                            <a:srgbClr val="2C587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Demographics</a:t>
                      </a:r>
                      <a:endParaRPr sz="1100"/>
                    </a:p>
                  </a:txBody>
                  <a:tcPr marT="13725" marB="13725" marR="48000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Gender, Senior Citizen, Partner, Dependents</a:t>
                      </a:r>
                      <a:endParaRPr sz="1100"/>
                    </a:p>
                  </a:txBody>
                  <a:tcPr marT="13725" marB="13725" marR="48000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Categorical</a:t>
                      </a:r>
                      <a:endParaRPr sz="1100"/>
                    </a:p>
                  </a:txBody>
                  <a:tcPr marT="13725" marB="13725" marR="48000" marL="61725" anchor="ctr">
                    <a:solidFill>
                      <a:srgbClr val="FFFFFF"/>
                    </a:solidFill>
                  </a:tcPr>
                </a:tc>
              </a:tr>
              <a:tr h="44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>
                          <a:solidFill>
                            <a:srgbClr val="2C587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Services</a:t>
                      </a:r>
                      <a:endParaRPr sz="1100"/>
                    </a:p>
                  </a:txBody>
                  <a:tcPr marT="13725" marB="13725" marR="48000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Phone Service, Multiple Lines, Internet Service, Online Security, Online Backup, Device Protection, Tech Support, Streaming TV, Streaming Movies</a:t>
                      </a:r>
                      <a:endParaRPr sz="1100"/>
                    </a:p>
                  </a:txBody>
                  <a:tcPr marT="13725" marB="13725" marR="48000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Categorical</a:t>
                      </a:r>
                      <a:endParaRPr sz="1100"/>
                    </a:p>
                  </a:txBody>
                  <a:tcPr marT="13725" marB="13725" marR="48000" marL="61725" anchor="ctr">
                    <a:solidFill>
                      <a:srgbClr val="FFFFFF"/>
                    </a:solidFill>
                  </a:tcPr>
                </a:tc>
              </a:tr>
              <a:tr h="44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>
                          <a:solidFill>
                            <a:srgbClr val="2C587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Account</a:t>
                      </a:r>
                      <a:endParaRPr sz="1100"/>
                    </a:p>
                  </a:txBody>
                  <a:tcPr marT="13725" marB="13725" marR="48000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Tenure Months, Contract, Paperless Billing, Payment Method, Monthly Charges, Total Charges</a:t>
                      </a:r>
                      <a:endParaRPr sz="1100"/>
                    </a:p>
                  </a:txBody>
                  <a:tcPr marT="13725" marB="13725" marR="48000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Numeric + categorical</a:t>
                      </a:r>
                      <a:endParaRPr sz="1100"/>
                    </a:p>
                  </a:txBody>
                  <a:tcPr marT="13725" marB="13725" marR="48000" marL="61725" anchor="ctr">
                    <a:solidFill>
                      <a:srgbClr val="FFFFFF"/>
                    </a:solidFill>
                  </a:tcPr>
                </a:tc>
              </a:tr>
              <a:tr h="44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>
                          <a:solidFill>
                            <a:srgbClr val="2C587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Target</a:t>
                      </a:r>
                      <a:endParaRPr sz="1100"/>
                    </a:p>
                  </a:txBody>
                  <a:tcPr marT="13725" marB="13725" marR="48000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Churn Value (0/1), Churn Label, Churn Reason</a:t>
                      </a:r>
                      <a:endParaRPr sz="1100"/>
                    </a:p>
                  </a:txBody>
                  <a:tcPr marT="13725" marB="13725" marR="48000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Outcome</a:t>
                      </a:r>
                      <a:endParaRPr sz="1100"/>
                    </a:p>
                  </a:txBody>
                  <a:tcPr marT="13725" marB="13725" marR="48000" marL="61725" anchor="ctr">
                    <a:solidFill>
                      <a:srgbClr val="FFFFFF"/>
                    </a:solidFill>
                  </a:tcPr>
                </a:tc>
              </a:tr>
              <a:tr h="44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>
                          <a:solidFill>
                            <a:srgbClr val="2C587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Constant (dropped)</a:t>
                      </a:r>
                      <a:endParaRPr sz="1100"/>
                    </a:p>
                  </a:txBody>
                  <a:tcPr marT="13725" marB="13725" marR="48000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Count, Country, State</a:t>
                      </a:r>
                      <a:endParaRPr sz="1100"/>
                    </a:p>
                  </a:txBody>
                  <a:tcPr marT="13725" marB="13725" marR="48000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Single value - no signal</a:t>
                      </a:r>
                      <a:endParaRPr sz="1100"/>
                    </a:p>
                  </a:txBody>
                  <a:tcPr marT="13725" marB="13725" marR="48000" marL="617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8"/>
          <p:cNvSpPr txBox="1"/>
          <p:nvPr/>
        </p:nvSpPr>
        <p:spPr>
          <a:xfrm>
            <a:off x="480073" y="377190"/>
            <a:ext cx="8229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Data </a:t>
            </a:r>
            <a:r>
              <a:rPr b="1" lang="en-GB" sz="2000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C</a:t>
            </a:r>
            <a:r>
              <a:rPr b="1" i="0" lang="en-GB" sz="2000" u="none" cap="none" strike="noStrike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leaning and </a:t>
            </a:r>
            <a:r>
              <a:rPr b="1" lang="en-GB" sz="2000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F</a:t>
            </a:r>
            <a:r>
              <a:rPr b="1" i="0" lang="en-GB" sz="2000" u="none" cap="none" strike="noStrike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eature </a:t>
            </a:r>
            <a:r>
              <a:rPr b="1" lang="en-GB" sz="2000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P</a:t>
            </a:r>
            <a:r>
              <a:rPr b="1" i="0" lang="en-GB" sz="2000" u="none" cap="none" strike="noStrike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reparation</a:t>
            </a:r>
            <a:endParaRPr sz="1100"/>
          </a:p>
        </p:txBody>
      </p:sp>
      <p:sp>
        <p:nvSpPr>
          <p:cNvPr id="158" name="Google Shape;158;p28"/>
          <p:cNvSpPr/>
          <p:nvPr/>
        </p:nvSpPr>
        <p:spPr>
          <a:xfrm>
            <a:off x="480073" y="1337310"/>
            <a:ext cx="3943455" cy="3394710"/>
          </a:xfrm>
          <a:prstGeom prst="roundRect">
            <a:avLst>
              <a:gd fmla="val 8000" name="adj"/>
            </a:avLst>
          </a:prstGeom>
          <a:solidFill>
            <a:srgbClr val="EAF0F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8"/>
          <p:cNvSpPr txBox="1"/>
          <p:nvPr/>
        </p:nvSpPr>
        <p:spPr>
          <a:xfrm>
            <a:off x="720109" y="1543050"/>
            <a:ext cx="3497700" cy="17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200" u="none" cap="none" strike="noStrike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Cleaning &amp; </a:t>
            </a:r>
            <a:r>
              <a:rPr b="1" lang="en-GB" sz="1200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D</a:t>
            </a:r>
            <a:r>
              <a:rPr b="1" i="0" lang="en-GB" sz="1200" u="none" cap="none" strike="noStrike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ata </a:t>
            </a:r>
            <a:r>
              <a:rPr b="1" lang="en-GB" sz="1200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Q</a:t>
            </a:r>
            <a:r>
              <a:rPr b="1" i="0" lang="en-GB" sz="1200" u="none" cap="none" strike="noStrike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uality</a:t>
            </a:r>
            <a:endParaRPr b="1" i="0" sz="1200" u="none" cap="none" strike="noStrike">
              <a:solidFill>
                <a:srgbClr val="2C587E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2C587E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i="0" lang="en-GB" sz="1000" u="none" cap="none" strike="noStrike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•  </a:t>
            </a:r>
            <a:r>
              <a:rPr i="0" lang="en-GB" sz="1000" u="none" cap="none" strike="noStrike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Total Charges: 11 blank values (new customers, tenure </a:t>
            </a:r>
            <a:r>
              <a:rPr lang="en-GB" sz="1000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of 0 months</a:t>
            </a:r>
            <a:r>
              <a:rPr i="0" lang="en-GB" sz="1000" u="none" cap="none" strike="noStrike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). The blanks were set to 0</a:t>
            </a:r>
            <a:r>
              <a:rPr lang="en-GB" sz="1000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 and cast to a float.</a:t>
            </a:r>
            <a:endParaRPr sz="11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i="0" lang="en-GB" sz="1000" u="none" cap="none" strike="noStrike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•  </a:t>
            </a:r>
            <a:r>
              <a:rPr i="0" lang="en-GB" sz="1000" u="none" cap="none" strike="noStrike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Churn Reason: 73% null by design - only churners have one; kept, never imputed</a:t>
            </a:r>
            <a:endParaRPr sz="11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i="0" lang="en-GB" sz="1000" u="none" cap="none" strike="noStrike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•  </a:t>
            </a:r>
            <a:r>
              <a:rPr i="0" lang="en-GB" sz="1000" u="none" cap="none" strike="noStrike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No duplicate customers found</a:t>
            </a:r>
            <a:endParaRPr sz="11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i="0" lang="en-GB" sz="1000" u="none" cap="none" strike="noStrike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•  </a:t>
            </a:r>
            <a:r>
              <a:rPr i="0" lang="en-GB" sz="1000" u="none" cap="none" strike="noStrike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Every row validated against a Pydantic schema, so that no invalid </a:t>
            </a:r>
            <a:r>
              <a:rPr lang="en-GB" sz="1000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data enters the model and affects the analysis.</a:t>
            </a:r>
            <a:endParaRPr sz="11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60" name="Google Shape;160;p28"/>
          <p:cNvSpPr/>
          <p:nvPr/>
        </p:nvSpPr>
        <p:spPr>
          <a:xfrm>
            <a:off x="4697855" y="1337310"/>
            <a:ext cx="3943455" cy="3394710"/>
          </a:xfrm>
          <a:prstGeom prst="roundRect">
            <a:avLst>
              <a:gd fmla="val 8000" name="adj"/>
            </a:avLst>
          </a:prstGeom>
          <a:solidFill>
            <a:srgbClr val="FBEAE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8"/>
          <p:cNvSpPr txBox="1"/>
          <p:nvPr/>
        </p:nvSpPr>
        <p:spPr>
          <a:xfrm>
            <a:off x="4937892" y="1543050"/>
            <a:ext cx="3497700" cy="21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200" u="none" cap="none" strike="noStrike">
                <a:solidFill>
                  <a:srgbClr val="D15115"/>
                </a:solidFill>
                <a:latin typeface="Georgia"/>
                <a:ea typeface="Georgia"/>
                <a:cs typeface="Georgia"/>
                <a:sym typeface="Georgia"/>
              </a:rPr>
              <a:t>Feature</a:t>
            </a:r>
            <a:r>
              <a:rPr b="1" lang="en-GB" sz="1200">
                <a:solidFill>
                  <a:srgbClr val="D15115"/>
                </a:solidFill>
                <a:latin typeface="Georgia"/>
                <a:ea typeface="Georgia"/>
                <a:cs typeface="Georgia"/>
                <a:sym typeface="Georgia"/>
              </a:rPr>
              <a:t> Engineering &amp; Selection</a:t>
            </a:r>
            <a:endParaRPr b="1" i="0" sz="1200" u="none" cap="none" strike="noStrike">
              <a:solidFill>
                <a:srgbClr val="D15115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D15115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i="0" lang="en-GB" sz="1000" u="none" cap="none" strike="noStrike">
                <a:solidFill>
                  <a:srgbClr val="D15115"/>
                </a:solidFill>
                <a:latin typeface="Georgia"/>
                <a:ea typeface="Georgia"/>
                <a:cs typeface="Georgia"/>
                <a:sym typeface="Georgia"/>
              </a:rPr>
              <a:t>•  </a:t>
            </a:r>
            <a:r>
              <a:rPr i="0" lang="en-GB" sz="1000" u="none" cap="none" strike="noStrike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Categorica</a:t>
            </a:r>
            <a:r>
              <a:rPr lang="en-GB" sz="1000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l data was </a:t>
            </a:r>
            <a:r>
              <a:rPr i="0" lang="en-GB" sz="1000" u="none" cap="none" strike="noStrike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 one-hot encoded; numeric</a:t>
            </a:r>
            <a:r>
              <a:rPr lang="en-GB" sz="1000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al data was </a:t>
            </a:r>
            <a:r>
              <a:rPr i="0" lang="en-GB" sz="1000" u="none" cap="none" strike="noStrike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 standardised</a:t>
            </a:r>
            <a:r>
              <a:rPr lang="en-GB" sz="1000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 so the model would be less affected by large ranges within the columns.</a:t>
            </a:r>
            <a:endParaRPr sz="11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GB" sz="1000" u="none" cap="none" strike="noStrike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Removed from the feature set, and why:</a:t>
            </a:r>
            <a:endParaRPr sz="11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i="0" lang="en-GB" sz="900" u="none" cap="none" strike="noStrike">
                <a:solidFill>
                  <a:srgbClr val="D15115"/>
                </a:solidFill>
                <a:latin typeface="Georgia"/>
                <a:ea typeface="Georgia"/>
                <a:cs typeface="Georgia"/>
                <a:sym typeface="Georgia"/>
              </a:rPr>
              <a:t>   -  </a:t>
            </a:r>
            <a:r>
              <a:rPr i="0" lang="en-GB" sz="900" u="none" cap="none" strike="noStrike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IDs &amp; location (CustomerID, City, Zip, Lat/Long) - identifiable, not predictive</a:t>
            </a:r>
            <a:endParaRPr sz="11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i="0" lang="en-GB" sz="900" u="none" cap="none" strike="noStrike">
                <a:solidFill>
                  <a:srgbClr val="D15115"/>
                </a:solidFill>
                <a:latin typeface="Georgia"/>
                <a:ea typeface="Georgia"/>
                <a:cs typeface="Georgia"/>
                <a:sym typeface="Georgia"/>
              </a:rPr>
              <a:t>   -  </a:t>
            </a:r>
            <a:r>
              <a:rPr i="0" lang="en-GB" sz="900" u="none" cap="none" strike="noStrike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Churn Reason - only known after a customer churns (leakage)</a:t>
            </a:r>
            <a:endParaRPr sz="11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i="0" lang="en-GB" sz="900" u="none" cap="none" strike="noStrike">
                <a:solidFill>
                  <a:srgbClr val="D15115"/>
                </a:solidFill>
                <a:latin typeface="Georgia"/>
                <a:ea typeface="Georgia"/>
                <a:cs typeface="Georgia"/>
                <a:sym typeface="Georgia"/>
              </a:rPr>
              <a:t>   -  </a:t>
            </a:r>
            <a:r>
              <a:rPr i="0" lang="en-GB" sz="900" u="none" cap="none" strike="noStrike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Churn Label - a direct copy of the target (leakage)</a:t>
            </a:r>
            <a:endParaRPr sz="11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i="0" lang="en-GB" sz="900" u="none" cap="none" strike="noStrike">
                <a:solidFill>
                  <a:srgbClr val="D15115"/>
                </a:solidFill>
                <a:latin typeface="Georgia"/>
                <a:ea typeface="Georgia"/>
                <a:cs typeface="Georgia"/>
                <a:sym typeface="Georgia"/>
              </a:rPr>
              <a:t>   -  </a:t>
            </a:r>
            <a:r>
              <a:rPr i="0" lang="en-GB" sz="900" u="none" cap="none" strike="noStrike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Count / Country / State - constant, no signal</a:t>
            </a:r>
            <a:endParaRPr sz="1100"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9"/>
          <p:cNvSpPr/>
          <p:nvPr/>
        </p:nvSpPr>
        <p:spPr>
          <a:xfrm>
            <a:off x="0" y="0"/>
            <a:ext cx="9144015" cy="5143500"/>
          </a:xfrm>
          <a:prstGeom prst="rect">
            <a:avLst/>
          </a:prstGeom>
          <a:solidFill>
            <a:srgbClr val="2C587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9"/>
          <p:cNvSpPr txBox="1"/>
          <p:nvPr/>
        </p:nvSpPr>
        <p:spPr>
          <a:xfrm>
            <a:off x="685818" y="1714500"/>
            <a:ext cx="7749747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400" u="none" cap="none" strike="noStrike">
                <a:solidFill>
                  <a:srgbClr val="DAC3B4"/>
                </a:solidFill>
                <a:latin typeface="Georgia"/>
                <a:ea typeface="Georgia"/>
                <a:cs typeface="Georgia"/>
                <a:sym typeface="Georgia"/>
              </a:rPr>
              <a:t>Question 1 of 5</a:t>
            </a:r>
            <a:endParaRPr sz="1100"/>
          </a:p>
        </p:txBody>
      </p:sp>
      <p:sp>
        <p:nvSpPr>
          <p:cNvPr id="168" name="Google Shape;168;p29"/>
          <p:cNvSpPr txBox="1"/>
          <p:nvPr/>
        </p:nvSpPr>
        <p:spPr>
          <a:xfrm>
            <a:off x="685818" y="2297430"/>
            <a:ext cx="7749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What do </a:t>
            </a:r>
            <a:r>
              <a:rPr b="1" lang="en-GB" sz="2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</a:t>
            </a:r>
            <a:r>
              <a:rPr b="1" i="0" lang="en-GB" sz="2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hurners </a:t>
            </a:r>
            <a:r>
              <a:rPr b="1" lang="en-GB" sz="2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L</a:t>
            </a:r>
            <a:r>
              <a:rPr b="1" i="0" lang="en-GB" sz="2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ook </a:t>
            </a:r>
            <a:r>
              <a:rPr b="1" lang="en-GB" sz="2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L</a:t>
            </a:r>
            <a:r>
              <a:rPr b="1" i="0" lang="en-GB" sz="2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ike</a:t>
            </a:r>
            <a:r>
              <a:rPr b="1" lang="en-GB" sz="2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:</a:t>
            </a:r>
            <a:r>
              <a:rPr b="1" i="0" lang="en-GB" sz="2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b="1" lang="en-GB" sz="2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G</a:t>
            </a:r>
            <a:r>
              <a:rPr b="1" i="0" lang="en-GB" sz="2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ender, </a:t>
            </a:r>
            <a:r>
              <a:rPr b="1" lang="en-GB" sz="2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F</a:t>
            </a:r>
            <a:r>
              <a:rPr b="1" i="0" lang="en-GB" sz="2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amily - and </a:t>
            </a:r>
            <a:r>
              <a:rPr b="1" lang="en-GB" sz="2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W</a:t>
            </a:r>
            <a:r>
              <a:rPr b="1" i="0" lang="en-GB" sz="2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hat </a:t>
            </a:r>
            <a:r>
              <a:rPr b="1" lang="en-GB" sz="2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</a:t>
            </a:r>
            <a:r>
              <a:rPr b="1" i="0" lang="en-GB" sz="2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roducts do they have?</a:t>
            </a:r>
            <a:endParaRPr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0"/>
          <p:cNvSpPr txBox="1"/>
          <p:nvPr/>
        </p:nvSpPr>
        <p:spPr>
          <a:xfrm>
            <a:off x="480073" y="377190"/>
            <a:ext cx="8229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800" u="none" cap="none" strike="noStrike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Gender is not a </a:t>
            </a:r>
            <a:r>
              <a:rPr b="1" lang="en-GB" sz="1800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F</a:t>
            </a:r>
            <a:r>
              <a:rPr b="1" i="0" lang="en-GB" sz="1800" u="none" cap="none" strike="noStrike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actor; </a:t>
            </a:r>
            <a:r>
              <a:rPr b="1" lang="en-GB" sz="1800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C</a:t>
            </a:r>
            <a:r>
              <a:rPr b="1" i="0" lang="en-GB" sz="1800" u="none" cap="none" strike="noStrike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hurners </a:t>
            </a:r>
            <a:r>
              <a:rPr b="1" lang="en-GB" sz="1800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are typically S</a:t>
            </a:r>
            <a:r>
              <a:rPr b="1" i="0" lang="en-GB" sz="1800" u="none" cap="none" strike="noStrike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enior, </a:t>
            </a:r>
            <a:r>
              <a:rPr b="1" lang="en-GB" sz="1800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S</a:t>
            </a:r>
            <a:r>
              <a:rPr b="1" i="0" lang="en-GB" sz="1800" u="none" cap="none" strike="noStrike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ingle and </a:t>
            </a:r>
            <a:r>
              <a:rPr b="1" lang="en-GB" sz="1800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L</a:t>
            </a:r>
            <a:r>
              <a:rPr b="1" i="0" lang="en-GB" sz="1800" u="none" cap="none" strike="noStrike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ow-commitment</a:t>
            </a:r>
            <a:endParaRPr sz="1100"/>
          </a:p>
        </p:txBody>
      </p:sp>
      <p:pic>
        <p:nvPicPr>
          <p:cNvPr descr="demographics_deck.png" id="174" name="Google Shape;174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11673" y="1337310"/>
            <a:ext cx="5996238" cy="257175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30"/>
          <p:cNvSpPr txBox="1"/>
          <p:nvPr/>
        </p:nvSpPr>
        <p:spPr>
          <a:xfrm>
            <a:off x="822982" y="4217670"/>
            <a:ext cx="74754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900" u="none" cap="none" strike="noStrike">
                <a:solidFill>
                  <a:srgbClr val="5F5E5A"/>
                </a:solidFill>
                <a:latin typeface="Georgia"/>
                <a:ea typeface="Georgia"/>
                <a:cs typeface="Georgia"/>
                <a:sym typeface="Georgia"/>
              </a:rPr>
              <a:t>Churners are more often senior (25% vs 16%), and </a:t>
            </a:r>
            <a:r>
              <a:rPr b="1" i="1" lang="en-GB" sz="900" u="none" cap="none" strike="noStrike">
                <a:solidFill>
                  <a:srgbClr val="5F5E5A"/>
                </a:solidFill>
                <a:latin typeface="Georgia"/>
                <a:ea typeface="Georgia"/>
                <a:cs typeface="Georgia"/>
                <a:sym typeface="Georgia"/>
              </a:rPr>
              <a:t>less likely</a:t>
            </a:r>
            <a:r>
              <a:rPr i="1" lang="en-GB" sz="900" u="none" cap="none" strike="noStrike">
                <a:solidFill>
                  <a:srgbClr val="5F5E5A"/>
                </a:solidFill>
                <a:latin typeface="Georgia"/>
                <a:ea typeface="Georgia"/>
                <a:cs typeface="Georgia"/>
                <a:sym typeface="Georgia"/>
              </a:rPr>
              <a:t> to have a partner (36% vs 48%) or dependents (6% vs 23%).</a:t>
            </a:r>
            <a:endParaRPr sz="900"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1"/>
          <p:cNvSpPr txBox="1"/>
          <p:nvPr/>
        </p:nvSpPr>
        <p:spPr>
          <a:xfrm>
            <a:off x="480073" y="377190"/>
            <a:ext cx="8229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Churners are </a:t>
            </a:r>
            <a:r>
              <a:rPr b="1" lang="en-GB" sz="2000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F</a:t>
            </a:r>
            <a:r>
              <a:rPr b="1" i="0" lang="en-GB" sz="2000" u="none" cap="none" strike="noStrike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ibre-heavy but </a:t>
            </a:r>
            <a:r>
              <a:rPr b="1" lang="en-GB" sz="2000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R</a:t>
            </a:r>
            <a:r>
              <a:rPr b="1" i="0" lang="en-GB" sz="2000" u="none" cap="none" strike="noStrike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arely </a:t>
            </a:r>
            <a:r>
              <a:rPr b="1" lang="en-GB" sz="2000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H</a:t>
            </a:r>
            <a:r>
              <a:rPr b="1" i="0" lang="en-GB" sz="2000" u="none" cap="none" strike="noStrike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old </a:t>
            </a:r>
            <a:r>
              <a:rPr b="1" lang="en-GB" sz="2000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P</a:t>
            </a:r>
            <a:r>
              <a:rPr b="1" i="0" lang="en-GB" sz="2000" u="none" cap="none" strike="noStrike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rotective </a:t>
            </a:r>
            <a:r>
              <a:rPr b="1" lang="en-GB" sz="2000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A</a:t>
            </a:r>
            <a:r>
              <a:rPr b="1" i="0" lang="en-GB" sz="2000" u="none" cap="none" strike="noStrike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dd-ons</a:t>
            </a:r>
            <a:endParaRPr sz="1100"/>
          </a:p>
        </p:txBody>
      </p:sp>
      <p:pic>
        <p:nvPicPr>
          <p:cNvPr descr="products_deck.png" id="181" name="Google Shape;18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0073" y="1577340"/>
            <a:ext cx="4067108" cy="2811779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31"/>
          <p:cNvSpPr/>
          <p:nvPr/>
        </p:nvSpPr>
        <p:spPr>
          <a:xfrm>
            <a:off x="4835019" y="1405889"/>
            <a:ext cx="3806291" cy="3291840"/>
          </a:xfrm>
          <a:prstGeom prst="roundRect">
            <a:avLst>
              <a:gd fmla="val 8000" name="adj"/>
            </a:avLst>
          </a:prstGeom>
          <a:solidFill>
            <a:srgbClr val="FBEAE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31"/>
          <p:cNvSpPr txBox="1"/>
          <p:nvPr/>
        </p:nvSpPr>
        <p:spPr>
          <a:xfrm>
            <a:off x="5075055" y="1611630"/>
            <a:ext cx="3360600" cy="20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300" u="none" cap="none" strike="noStrike">
                <a:solidFill>
                  <a:srgbClr val="D15115"/>
                </a:solidFill>
                <a:latin typeface="Georgia"/>
                <a:ea typeface="Georgia"/>
                <a:cs typeface="Georgia"/>
                <a:sym typeface="Georgia"/>
              </a:rPr>
              <a:t>Product </a:t>
            </a:r>
            <a:r>
              <a:rPr b="1" lang="en-GB" sz="1300">
                <a:solidFill>
                  <a:srgbClr val="D15115"/>
                </a:solidFill>
                <a:latin typeface="Georgia"/>
                <a:ea typeface="Georgia"/>
                <a:cs typeface="Georgia"/>
                <a:sym typeface="Georgia"/>
              </a:rPr>
              <a:t>P</a:t>
            </a:r>
            <a:r>
              <a:rPr b="1" i="0" lang="en-GB" sz="1300" u="none" cap="none" strike="noStrike">
                <a:solidFill>
                  <a:srgbClr val="D15115"/>
                </a:solidFill>
                <a:latin typeface="Georgia"/>
                <a:ea typeface="Georgia"/>
                <a:cs typeface="Georgia"/>
                <a:sym typeface="Georgia"/>
              </a:rPr>
              <a:t>rofile</a:t>
            </a:r>
            <a:endParaRPr b="1" i="0" sz="1300" u="none" cap="none" strike="noStrike">
              <a:solidFill>
                <a:srgbClr val="D15115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D15115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i="0" lang="en-GB" sz="1000" u="none" cap="none" strike="noStrike">
                <a:solidFill>
                  <a:srgbClr val="D15115"/>
                </a:solidFill>
                <a:latin typeface="Georgia"/>
                <a:ea typeface="Georgia"/>
                <a:cs typeface="Georgia"/>
                <a:sym typeface="Georgia"/>
              </a:rPr>
              <a:t>•  </a:t>
            </a:r>
            <a:r>
              <a:rPr i="0" lang="en-GB" sz="1000" u="none" cap="none" strike="noStrike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Almost all have phone service (91%)</a:t>
            </a:r>
            <a:endParaRPr sz="11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i="0" lang="en-GB" sz="1000" u="none" cap="none" strike="noStrike">
                <a:solidFill>
                  <a:srgbClr val="D15115"/>
                </a:solidFill>
                <a:latin typeface="Georgia"/>
                <a:ea typeface="Georgia"/>
                <a:cs typeface="Georgia"/>
                <a:sym typeface="Georgia"/>
              </a:rPr>
              <a:t>•  </a:t>
            </a:r>
            <a:r>
              <a:rPr i="0" lang="en-GB" sz="1000" u="none" cap="none" strike="noStrike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Fibre optic internet is common (69%)</a:t>
            </a:r>
            <a:endParaRPr sz="11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i="0" lang="en-GB" sz="1000" u="none" cap="none" strike="noStrike">
                <a:solidFill>
                  <a:srgbClr val="D15115"/>
                </a:solidFill>
                <a:latin typeface="Georgia"/>
                <a:ea typeface="Georgia"/>
                <a:cs typeface="Georgia"/>
                <a:sym typeface="Georgia"/>
              </a:rPr>
              <a:t>•  </a:t>
            </a:r>
            <a:r>
              <a:rPr i="0" lang="en-GB" sz="1000" u="none" cap="none" strike="noStrike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Streaming is popular (~44%)</a:t>
            </a:r>
            <a:endParaRPr sz="11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i="0" lang="en-GB" sz="1000" u="none" cap="none" strike="noStrike">
                <a:solidFill>
                  <a:srgbClr val="D15115"/>
                </a:solidFill>
                <a:latin typeface="Georgia"/>
                <a:ea typeface="Georgia"/>
                <a:cs typeface="Georgia"/>
                <a:sym typeface="Georgia"/>
              </a:rPr>
              <a:t>•  </a:t>
            </a:r>
            <a:r>
              <a:rPr i="0" lang="en-GB" sz="1000" u="none" cap="none" strike="noStrike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But only ~16% hold Online Security and ~17% Tech Support</a:t>
            </a:r>
            <a:endParaRPr sz="11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There is a high correlation between customers lacking certain addons and the risk of a customer churning.</a:t>
            </a:r>
            <a:endParaRPr sz="1100"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2"/>
          <p:cNvSpPr txBox="1"/>
          <p:nvPr/>
        </p:nvSpPr>
        <p:spPr>
          <a:xfrm>
            <a:off x="480073" y="377190"/>
            <a:ext cx="8229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900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Clustering Analysis</a:t>
            </a:r>
            <a:r>
              <a:rPr b="1" i="0" lang="en-GB" sz="1900" u="none" cap="none" strike="noStrike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 with K-means</a:t>
            </a:r>
            <a:endParaRPr sz="1100"/>
          </a:p>
        </p:txBody>
      </p:sp>
      <p:pic>
        <p:nvPicPr>
          <p:cNvPr descr="elbow_deck.png" id="189" name="Google Shape;189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7298" y="1769785"/>
            <a:ext cx="4918579" cy="3120389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32"/>
          <p:cNvSpPr txBox="1"/>
          <p:nvPr/>
        </p:nvSpPr>
        <p:spPr>
          <a:xfrm>
            <a:off x="5778312" y="3097200"/>
            <a:ext cx="3120600" cy="17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k=3 &amp; k=4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i="0" lang="en-GB" sz="1000" u="none" cap="none" strike="noStrike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•  </a:t>
            </a:r>
            <a:r>
              <a:rPr i="0" lang="en-GB" sz="1000" u="none" cap="none" strike="noStrike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Churned and retained customers were clustered separately</a:t>
            </a:r>
            <a:endParaRPr sz="11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i="0" lang="en-GB" sz="1000" u="none" cap="none" strike="noStrike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•  </a:t>
            </a:r>
            <a:r>
              <a:rPr lang="en-GB" sz="1000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Categoricals </a:t>
            </a:r>
            <a:r>
              <a:rPr i="0" lang="en-GB" sz="1000" u="none" cap="none" strike="noStrike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encoded and </a:t>
            </a:r>
            <a:r>
              <a:rPr lang="en-GB" sz="1000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n</a:t>
            </a:r>
            <a:r>
              <a:rPr i="0" lang="en-GB" sz="1000" u="none" cap="none" strike="noStrike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umerics standard</a:t>
            </a:r>
            <a:r>
              <a:rPr lang="en-GB" sz="1000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 scaled</a:t>
            </a:r>
            <a:endParaRPr sz="11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i="0" lang="en-GB" sz="1000" u="none" cap="none" strike="noStrike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•  </a:t>
            </a:r>
            <a:r>
              <a:rPr i="0" lang="en-GB" sz="1000" u="none" cap="none" strike="noStrike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Swept k = 2-8, reading the elbow (inertia) and silhouette score</a:t>
            </a:r>
            <a:endParaRPr sz="11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1300"/>
              </a:spcBef>
              <a:spcAft>
                <a:spcPts val="0"/>
              </a:spcAft>
              <a:buNone/>
            </a:pPr>
            <a:r>
              <a:rPr b="1" i="0" lang="en-GB" sz="1100" u="none" cap="none" strike="noStrike">
                <a:solidFill>
                  <a:srgbClr val="D15115"/>
                </a:solidFill>
                <a:latin typeface="Georgia"/>
                <a:ea typeface="Georgia"/>
                <a:cs typeface="Georgia"/>
                <a:sym typeface="Georgia"/>
              </a:rPr>
              <a:t>Churned</a:t>
            </a:r>
            <a:r>
              <a:rPr b="1" lang="en-GB" sz="1100">
                <a:solidFill>
                  <a:srgbClr val="D15115"/>
                </a:solidFill>
                <a:latin typeface="Georgia"/>
                <a:ea typeface="Georgia"/>
                <a:cs typeface="Georgia"/>
                <a:sym typeface="Georgia"/>
              </a:rPr>
              <a:t>:</a:t>
            </a:r>
            <a:r>
              <a:rPr b="1" i="0" lang="en-GB" sz="1100" u="none" cap="none" strike="noStrike">
                <a:solidFill>
                  <a:srgbClr val="D15115"/>
                </a:solidFill>
                <a:latin typeface="Georgia"/>
                <a:ea typeface="Georgia"/>
                <a:cs typeface="Georgia"/>
                <a:sym typeface="Georgia"/>
              </a:rPr>
              <a:t>  k = 3 cl</a:t>
            </a:r>
            <a:r>
              <a:rPr b="1" lang="en-GB" sz="1100">
                <a:solidFill>
                  <a:srgbClr val="D15115"/>
                </a:solidFill>
                <a:latin typeface="Georgia"/>
                <a:ea typeface="Georgia"/>
                <a:cs typeface="Georgia"/>
                <a:sym typeface="Georgia"/>
              </a:rPr>
              <a:t>usters</a:t>
            </a:r>
            <a:endParaRPr sz="11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GB" sz="1100" u="none" cap="none" strike="noStrike">
                <a:solidFill>
                  <a:srgbClr val="D15115"/>
                </a:solidFill>
                <a:latin typeface="Georgia"/>
                <a:ea typeface="Georgia"/>
                <a:cs typeface="Georgia"/>
                <a:sym typeface="Georgia"/>
              </a:rPr>
              <a:t>Retained</a:t>
            </a:r>
            <a:r>
              <a:rPr b="1" lang="en-GB" sz="1100">
                <a:solidFill>
                  <a:srgbClr val="D15115"/>
                </a:solidFill>
                <a:latin typeface="Georgia"/>
                <a:ea typeface="Georgia"/>
                <a:cs typeface="Georgia"/>
                <a:sym typeface="Georgia"/>
              </a:rPr>
              <a:t>:</a:t>
            </a:r>
            <a:r>
              <a:rPr b="1" i="0" lang="en-GB" sz="1100" u="none" cap="none" strike="noStrike">
                <a:solidFill>
                  <a:srgbClr val="D15115"/>
                </a:solidFill>
                <a:latin typeface="Georgia"/>
                <a:ea typeface="Georgia"/>
                <a:cs typeface="Georgia"/>
                <a:sym typeface="Georgia"/>
              </a:rPr>
              <a:t>  k = 4 clusters</a:t>
            </a:r>
            <a:endParaRPr sz="11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91" name="Google Shape;191;p32"/>
          <p:cNvSpPr txBox="1"/>
          <p:nvPr/>
        </p:nvSpPr>
        <p:spPr>
          <a:xfrm>
            <a:off x="515550" y="761425"/>
            <a:ext cx="81129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latin typeface="Georgia"/>
                <a:ea typeface="Georgia"/>
                <a:cs typeface="Georgia"/>
                <a:sym typeface="Georgia"/>
              </a:rPr>
              <a:t>K-means clustering groups customers who "look alike" across their contract, billing, and service-usage patterns into </a:t>
            </a:r>
            <a:r>
              <a:rPr b="1" lang="en-GB" sz="1000">
                <a:latin typeface="Georgia"/>
                <a:ea typeface="Georgia"/>
                <a:cs typeface="Georgia"/>
                <a:sym typeface="Georgia"/>
              </a:rPr>
              <a:t>k </a:t>
            </a:r>
            <a:r>
              <a:rPr lang="en-GB" sz="1000">
                <a:latin typeface="Georgia"/>
                <a:ea typeface="Georgia"/>
                <a:cs typeface="Georgia"/>
                <a:sym typeface="Georgia"/>
              </a:rPr>
              <a:t>distinct segments. </a:t>
            </a:r>
            <a:endParaRPr sz="10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latin typeface="Georgia"/>
                <a:ea typeface="Georgia"/>
                <a:cs typeface="Georgia"/>
                <a:sym typeface="Georgia"/>
              </a:rPr>
              <a:t>Here, it lets us uncover customer type clusters within the churned and retained populations separately, revealing which combinations of traits (like short tenure, fibre optic, and no add-ons) define the highest-risk profile, and which retained customers most closely resemble that profile today. </a:t>
            </a:r>
            <a:r>
              <a:rPr lang="en-GB" sz="1000">
                <a:latin typeface="Georgia"/>
                <a:ea typeface="Georgia"/>
                <a:cs typeface="Georgia"/>
                <a:sym typeface="Georgia"/>
              </a:rPr>
              <a:t> </a:t>
            </a:r>
            <a:endParaRPr sz="10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92" name="Google Shape;192;p32"/>
          <p:cNvSpPr txBox="1"/>
          <p:nvPr/>
        </p:nvSpPr>
        <p:spPr>
          <a:xfrm>
            <a:off x="5658900" y="1715713"/>
            <a:ext cx="33594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Choosing k</a:t>
            </a:r>
            <a:endParaRPr b="1" sz="1200">
              <a:solidFill>
                <a:srgbClr val="2C587E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1" sz="1200">
              <a:solidFill>
                <a:srgbClr val="2C587E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latin typeface="Georgia"/>
                <a:ea typeface="Georgia"/>
                <a:cs typeface="Georgia"/>
                <a:sym typeface="Georgia"/>
              </a:rPr>
              <a:t>k</a:t>
            </a:r>
            <a:r>
              <a:rPr lang="en-GB" sz="1000">
                <a:latin typeface="Georgia"/>
                <a:ea typeface="Georgia"/>
                <a:cs typeface="Georgia"/>
                <a:sym typeface="Georgia"/>
              </a:rPr>
              <a:t> is chosen by </a:t>
            </a:r>
            <a:r>
              <a:rPr lang="en-GB" sz="1000">
                <a:latin typeface="Georgia"/>
                <a:ea typeface="Georgia"/>
                <a:cs typeface="Georgia"/>
                <a:sym typeface="Georgia"/>
              </a:rPr>
              <a:t>picking the point where adding more clusters stops meaningfully reducing inertia, balanced against how interpretable and business-useful the resulting segments are. </a:t>
            </a:r>
            <a:endParaRPr sz="1000"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3"/>
          <p:cNvSpPr txBox="1"/>
          <p:nvPr/>
        </p:nvSpPr>
        <p:spPr>
          <a:xfrm>
            <a:off x="480073" y="377190"/>
            <a:ext cx="82299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Churned </a:t>
            </a:r>
            <a:r>
              <a:rPr b="1" lang="en-GB" sz="2000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C</a:t>
            </a:r>
            <a:r>
              <a:rPr b="1" i="0" lang="en-GB" sz="2000" u="none" cap="none" strike="noStrike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ustomers</a:t>
            </a:r>
            <a:r>
              <a:rPr b="1" lang="en-GB" sz="2000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: The</a:t>
            </a:r>
            <a:r>
              <a:rPr b="1" i="0" lang="en-GB" sz="2000" u="none" cap="none" strike="noStrike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b="1" lang="en-GB" sz="2000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T</a:t>
            </a:r>
            <a:r>
              <a:rPr b="1" i="0" lang="en-GB" sz="2000" u="none" cap="none" strike="noStrike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hree </a:t>
            </a:r>
            <a:r>
              <a:rPr b="1" lang="en-GB" sz="2000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T</a:t>
            </a:r>
            <a:r>
              <a:rPr b="1" i="0" lang="en-GB" sz="2000" u="none" cap="none" strike="noStrike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ypes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i="0" lang="en-GB" sz="1000" u="none" cap="none" strike="noStrike">
                <a:solidFill>
                  <a:srgbClr val="5F5E5A"/>
                </a:solidFill>
                <a:latin typeface="Georgia"/>
                <a:ea typeface="Georgia"/>
                <a:cs typeface="Georgia"/>
                <a:sym typeface="Georgia"/>
              </a:rPr>
              <a:t>All three are </a:t>
            </a:r>
            <a:r>
              <a:rPr b="1" i="0" lang="en-GB" sz="1000" u="none" cap="none" strike="noStrike">
                <a:solidFill>
                  <a:srgbClr val="5F5E5A"/>
                </a:solidFill>
                <a:latin typeface="Georgia"/>
                <a:ea typeface="Georgia"/>
                <a:cs typeface="Georgia"/>
                <a:sym typeface="Georgia"/>
              </a:rPr>
              <a:t>dominated by month-to-month contracts </a:t>
            </a:r>
            <a:r>
              <a:rPr i="0" lang="en-GB" sz="1000" u="none" cap="none" strike="noStrike">
                <a:solidFill>
                  <a:srgbClr val="5F5E5A"/>
                </a:solidFill>
                <a:latin typeface="Georgia"/>
                <a:ea typeface="Georgia"/>
                <a:cs typeface="Georgia"/>
                <a:sym typeface="Georgia"/>
              </a:rPr>
              <a:t>and </a:t>
            </a:r>
            <a:r>
              <a:rPr b="1" i="0" lang="en-GB" sz="1000" u="none" cap="none" strike="noStrike">
                <a:solidFill>
                  <a:srgbClr val="5F5E5A"/>
                </a:solidFill>
                <a:latin typeface="Georgia"/>
                <a:ea typeface="Georgia"/>
                <a:cs typeface="Georgia"/>
                <a:sym typeface="Georgia"/>
              </a:rPr>
              <a:t>low add-on take-up</a:t>
            </a:r>
            <a:r>
              <a:rPr i="0" lang="en-GB" sz="1000" u="none" cap="none" strike="noStrike">
                <a:solidFill>
                  <a:srgbClr val="5F5E5A"/>
                </a:solidFill>
                <a:latin typeface="Georgia"/>
                <a:ea typeface="Georgia"/>
                <a:cs typeface="Georgia"/>
                <a:sym typeface="Georgia"/>
              </a:rPr>
              <a:t>.</a:t>
            </a:r>
            <a:endParaRPr sz="1100">
              <a:latin typeface="Georgia"/>
              <a:ea typeface="Georgia"/>
              <a:cs typeface="Georgia"/>
              <a:sym typeface="Georgia"/>
            </a:endParaRPr>
          </a:p>
        </p:txBody>
      </p:sp>
      <p:graphicFrame>
        <p:nvGraphicFramePr>
          <p:cNvPr id="198" name="Google Shape;198;p33"/>
          <p:cNvGraphicFramePr/>
          <p:nvPr/>
        </p:nvGraphicFramePr>
        <p:xfrm>
          <a:off x="514364" y="1371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{56DD356D-7530-47AD-A647-A0787A634382}</a:tableStyleId>
              </a:tblPr>
              <a:tblGrid>
                <a:gridCol w="1954575"/>
                <a:gridCol w="2057450"/>
                <a:gridCol w="2057450"/>
                <a:gridCol w="2057450"/>
              </a:tblGrid>
              <a:tr h="321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3725" marB="13725" marR="48000" marL="61725" anchor="ctr">
                    <a:solidFill>
                      <a:srgbClr val="2C58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900">
                          <a:solidFill>
                            <a:srgbClr val="FFFFFF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C1 · Budget DSL</a:t>
                      </a:r>
                      <a:endParaRPr sz="1100"/>
                    </a:p>
                  </a:txBody>
                  <a:tcPr marT="13725" marB="13725" marR="48000" marL="61725" anchor="ctr">
                    <a:solidFill>
                      <a:srgbClr val="2C58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900">
                          <a:solidFill>
                            <a:srgbClr val="FFFFFF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C2 · Established fibre</a:t>
                      </a:r>
                      <a:endParaRPr sz="1100"/>
                    </a:p>
                  </a:txBody>
                  <a:tcPr marT="13725" marB="13725" marR="48000" marL="61725" anchor="ctr">
                    <a:solidFill>
                      <a:srgbClr val="2C58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900">
                          <a:solidFill>
                            <a:srgbClr val="FFFFFF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C3 · New fibre (high-risk)</a:t>
                      </a:r>
                      <a:endParaRPr sz="1100"/>
                    </a:p>
                  </a:txBody>
                  <a:tcPr marT="13725" marB="13725" marR="48000" marL="61725" anchor="ctr">
                    <a:solidFill>
                      <a:srgbClr val="2C587E"/>
                    </a:solidFill>
                  </a:tcPr>
                </a:tc>
              </a:tr>
              <a:tr h="321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900">
                          <a:solidFill>
                            <a:srgbClr val="2C587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Customers</a:t>
                      </a:r>
                      <a:endParaRPr sz="1100"/>
                    </a:p>
                  </a:txBody>
                  <a:tcPr marT="13725" marB="13725" marR="48000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90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487  (26%)</a:t>
                      </a:r>
                      <a:endParaRPr sz="1100"/>
                    </a:p>
                  </a:txBody>
                  <a:tcPr marT="13725" marB="13725" marR="48000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90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420  (22%)</a:t>
                      </a:r>
                      <a:endParaRPr sz="1100"/>
                    </a:p>
                  </a:txBody>
                  <a:tcPr marT="13725" marB="13725" marR="48000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90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962  (5</a:t>
                      </a:r>
                      <a:r>
                        <a:rPr lang="en-GB" sz="900">
                          <a:solidFill>
                            <a:srgbClr val="212121"/>
                          </a:solidFill>
                        </a:rPr>
                        <a:t>1</a:t>
                      </a:r>
                      <a:r>
                        <a:rPr b="0" lang="en-GB" sz="90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%)</a:t>
                      </a:r>
                      <a:endParaRPr sz="1100"/>
                    </a:p>
                  </a:txBody>
                  <a:tcPr marT="13725" marB="13725" marR="48000" marL="61725" anchor="ctr">
                    <a:solidFill>
                      <a:srgbClr val="FFFFFF"/>
                    </a:solidFill>
                  </a:tcPr>
                </a:tc>
              </a:tr>
              <a:tr h="321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900">
                          <a:solidFill>
                            <a:srgbClr val="2C587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Avg tenure</a:t>
                      </a:r>
                      <a:endParaRPr sz="1100"/>
                    </a:p>
                  </a:txBody>
                  <a:tcPr marT="13725" marB="13725" marR="48000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90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 months</a:t>
                      </a:r>
                      <a:endParaRPr sz="1100"/>
                    </a:p>
                  </a:txBody>
                  <a:tcPr marT="13725" marB="13725" marR="48000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90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48 months</a:t>
                      </a:r>
                      <a:endParaRPr sz="1100"/>
                    </a:p>
                  </a:txBody>
                  <a:tcPr marT="13725" marB="13725" marR="48000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90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 months</a:t>
                      </a:r>
                      <a:endParaRPr sz="1100"/>
                    </a:p>
                  </a:txBody>
                  <a:tcPr marT="13725" marB="13725" marR="48000" marL="61725" anchor="ctr">
                    <a:solidFill>
                      <a:srgbClr val="FFFFFF"/>
                    </a:solidFill>
                  </a:tcPr>
                </a:tc>
              </a:tr>
              <a:tr h="321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900">
                          <a:solidFill>
                            <a:srgbClr val="2C587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Avg monthly charge</a:t>
                      </a:r>
                      <a:endParaRPr sz="1100"/>
                    </a:p>
                  </a:txBody>
                  <a:tcPr marT="13725" marB="13725" marR="48000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90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$39</a:t>
                      </a:r>
                      <a:endParaRPr sz="1100"/>
                    </a:p>
                  </a:txBody>
                  <a:tcPr marT="13725" marB="13725" marR="48000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90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$94</a:t>
                      </a:r>
                      <a:endParaRPr sz="1100"/>
                    </a:p>
                  </a:txBody>
                  <a:tcPr marT="13725" marB="13725" marR="48000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90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$84</a:t>
                      </a:r>
                      <a:endParaRPr sz="1100"/>
                    </a:p>
                  </a:txBody>
                  <a:tcPr marT="13725" marB="13725" marR="48000" marL="61725" anchor="ctr">
                    <a:solidFill>
                      <a:srgbClr val="FFFFFF"/>
                    </a:solidFill>
                  </a:tcPr>
                </a:tc>
              </a:tr>
              <a:tr h="321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900">
                          <a:solidFill>
                            <a:srgbClr val="2C587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Month-to-month</a:t>
                      </a:r>
                      <a:endParaRPr sz="1100"/>
                    </a:p>
                  </a:txBody>
                  <a:tcPr marT="13725" marB="13725" marR="48000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90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93%</a:t>
                      </a:r>
                      <a:endParaRPr sz="1100"/>
                    </a:p>
                  </a:txBody>
                  <a:tcPr marT="13725" marB="13725" marR="48000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90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61%</a:t>
                      </a:r>
                      <a:endParaRPr sz="1100"/>
                    </a:p>
                  </a:txBody>
                  <a:tcPr marT="13725" marB="13725" marR="48000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90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98%</a:t>
                      </a:r>
                      <a:endParaRPr sz="1100"/>
                    </a:p>
                  </a:txBody>
                  <a:tcPr marT="13725" marB="13725" marR="48000" marL="61725" anchor="ctr">
                    <a:solidFill>
                      <a:srgbClr val="FFFFFF"/>
                    </a:solidFill>
                  </a:tcPr>
                </a:tc>
              </a:tr>
              <a:tr h="321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900">
                          <a:solidFill>
                            <a:srgbClr val="2C587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Internet type</a:t>
                      </a:r>
                      <a:endParaRPr sz="1100"/>
                    </a:p>
                  </a:txBody>
                  <a:tcPr marT="13725" marB="13725" marR="48000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90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77% DSL</a:t>
                      </a:r>
                      <a:endParaRPr sz="1100"/>
                    </a:p>
                  </a:txBody>
                  <a:tcPr marT="13725" marB="13725" marR="48000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90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88% fibre</a:t>
                      </a:r>
                      <a:endParaRPr sz="1100"/>
                    </a:p>
                  </a:txBody>
                  <a:tcPr marT="13725" marB="13725" marR="48000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90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96% fibre</a:t>
                      </a:r>
                      <a:endParaRPr sz="1100"/>
                    </a:p>
                  </a:txBody>
                  <a:tcPr marT="13725" marB="13725" marR="48000" marL="61725" anchor="ctr">
                    <a:solidFill>
                      <a:srgbClr val="FFFFFF"/>
                    </a:solidFill>
                  </a:tcPr>
                </a:tc>
              </a:tr>
              <a:tr h="321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900">
                          <a:solidFill>
                            <a:srgbClr val="2C587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Electronic check</a:t>
                      </a:r>
                      <a:endParaRPr sz="1100"/>
                    </a:p>
                  </a:txBody>
                  <a:tcPr marT="13725" marB="13725" marR="48000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90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39%</a:t>
                      </a:r>
                      <a:endParaRPr sz="1100"/>
                    </a:p>
                  </a:txBody>
                  <a:tcPr marT="13725" marB="13725" marR="48000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90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53%</a:t>
                      </a:r>
                      <a:endParaRPr sz="1100"/>
                    </a:p>
                  </a:txBody>
                  <a:tcPr marT="13725" marB="13725" marR="48000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90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69%</a:t>
                      </a:r>
                      <a:endParaRPr sz="1100"/>
                    </a:p>
                  </a:txBody>
                  <a:tcPr marT="13725" marB="13725" marR="48000" marL="61725" anchor="ctr">
                    <a:solidFill>
                      <a:srgbClr val="FFFFFF"/>
                    </a:solidFill>
                  </a:tcPr>
                </a:tc>
              </a:tr>
              <a:tr h="321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900">
                          <a:solidFill>
                            <a:srgbClr val="2C587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Has online security</a:t>
                      </a:r>
                      <a:endParaRPr sz="1100"/>
                    </a:p>
                  </a:txBody>
                  <a:tcPr marT="13725" marB="13725" marR="48000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90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15%</a:t>
                      </a:r>
                      <a:endParaRPr sz="1100"/>
                    </a:p>
                  </a:txBody>
                  <a:tcPr marT="13725" marB="13725" marR="48000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90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29%</a:t>
                      </a:r>
                      <a:endParaRPr sz="1100"/>
                    </a:p>
                  </a:txBody>
                  <a:tcPr marT="13725" marB="13725" marR="48000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90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10%</a:t>
                      </a:r>
                      <a:endParaRPr sz="1100"/>
                    </a:p>
                  </a:txBody>
                  <a:tcPr marT="13725" marB="13725" marR="48000" marL="617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9" name="Google Shape;199;p33"/>
          <p:cNvSpPr/>
          <p:nvPr/>
        </p:nvSpPr>
        <p:spPr>
          <a:xfrm>
            <a:off x="514364" y="4114800"/>
            <a:ext cx="8126947" cy="685800"/>
          </a:xfrm>
          <a:prstGeom prst="roundRect">
            <a:avLst>
              <a:gd fmla="val 8000" name="adj"/>
            </a:avLst>
          </a:prstGeom>
          <a:solidFill>
            <a:srgbClr val="FBEAE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33"/>
          <p:cNvSpPr txBox="1"/>
          <p:nvPr/>
        </p:nvSpPr>
        <p:spPr>
          <a:xfrm>
            <a:off x="754400" y="4265676"/>
            <a:ext cx="7647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000" u="none" cap="none" strike="noStrike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C3 is the priority:</a:t>
            </a:r>
            <a:r>
              <a:rPr b="1" i="0" lang="en-GB" sz="1000" u="none" cap="none" strike="noStrike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 half </a:t>
            </a:r>
            <a:r>
              <a:rPr i="0" lang="en-GB" sz="1000" u="none" cap="none" strike="noStrike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of all churners</a:t>
            </a:r>
            <a:r>
              <a:rPr b="1" i="0" lang="en-GB" sz="1000" u="none" cap="none" strike="noStrike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, </a:t>
            </a:r>
            <a:r>
              <a:rPr i="0" lang="en-GB" sz="1000" u="none" cap="none" strike="noStrike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brand new</a:t>
            </a:r>
            <a:r>
              <a:rPr b="1" i="0" lang="en-GB" sz="1000" u="none" cap="none" strike="noStrike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, </a:t>
            </a:r>
            <a:r>
              <a:rPr b="1" lang="en-GB" sz="1000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high-value</a:t>
            </a:r>
            <a:r>
              <a:rPr b="1" i="0" lang="en-GB" sz="1000" u="none" cap="none" strike="noStrike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, almost entirely month-to-month </a:t>
            </a:r>
            <a:r>
              <a:rPr i="0" lang="en-GB" sz="1000" u="none" cap="none" strike="noStrike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with</a:t>
            </a:r>
            <a:r>
              <a:rPr b="1" i="0" lang="en-GB" sz="1000" u="none" cap="none" strike="noStrike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 only 10% holding online security.</a:t>
            </a:r>
            <a:endParaRPr sz="1100"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4"/>
          <p:cNvSpPr txBox="1"/>
          <p:nvPr/>
        </p:nvSpPr>
        <p:spPr>
          <a:xfrm>
            <a:off x="480073" y="377190"/>
            <a:ext cx="82299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Retained </a:t>
            </a:r>
            <a:r>
              <a:rPr b="1" lang="en-GB" sz="2000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C</a:t>
            </a:r>
            <a:r>
              <a:rPr b="1" i="0" lang="en-GB" sz="2000" u="none" cap="none" strike="noStrike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ustomers</a:t>
            </a:r>
            <a:r>
              <a:rPr b="1" lang="en-GB" sz="2000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: Four Types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i="0" lang="en-GB" sz="1000" u="none" cap="none" strike="noStrike">
                <a:solidFill>
                  <a:srgbClr val="5F5E5A"/>
                </a:solidFill>
                <a:latin typeface="Georgia"/>
                <a:ea typeface="Georgia"/>
                <a:cs typeface="Georgia"/>
                <a:sym typeface="Georgia"/>
              </a:rPr>
              <a:t>The loyal segments are defined by </a:t>
            </a:r>
            <a:r>
              <a:rPr b="1" i="0" lang="en-GB" sz="1000" u="none" cap="none" strike="noStrike">
                <a:solidFill>
                  <a:srgbClr val="5F5E5A"/>
                </a:solidFill>
                <a:latin typeface="Georgia"/>
                <a:ea typeface="Georgia"/>
                <a:cs typeface="Georgia"/>
                <a:sym typeface="Georgia"/>
              </a:rPr>
              <a:t>term contracts</a:t>
            </a:r>
            <a:r>
              <a:rPr i="0" lang="en-GB" sz="1000" u="none" cap="none" strike="noStrike">
                <a:solidFill>
                  <a:srgbClr val="5F5E5A"/>
                </a:solidFill>
                <a:latin typeface="Georgia"/>
                <a:ea typeface="Georgia"/>
                <a:cs typeface="Georgia"/>
                <a:sym typeface="Georgia"/>
              </a:rPr>
              <a:t>, </a:t>
            </a:r>
            <a:r>
              <a:rPr b="1" i="0" lang="en-GB" sz="1000" u="none" cap="none" strike="noStrike">
                <a:solidFill>
                  <a:srgbClr val="5F5E5A"/>
                </a:solidFill>
                <a:latin typeface="Georgia"/>
                <a:ea typeface="Georgia"/>
                <a:cs typeface="Georgia"/>
                <a:sym typeface="Georgia"/>
              </a:rPr>
              <a:t>automatic payment</a:t>
            </a:r>
            <a:r>
              <a:rPr i="0" lang="en-GB" sz="1000" u="none" cap="none" strike="noStrike">
                <a:solidFill>
                  <a:srgbClr val="5F5E5A"/>
                </a:solidFill>
                <a:latin typeface="Georgia"/>
                <a:ea typeface="Georgia"/>
                <a:cs typeface="Georgia"/>
                <a:sym typeface="Georgia"/>
              </a:rPr>
              <a:t> and </a:t>
            </a:r>
            <a:r>
              <a:rPr b="1" i="0" lang="en-GB" sz="1000" u="none" cap="none" strike="noStrike">
                <a:solidFill>
                  <a:srgbClr val="5F5E5A"/>
                </a:solidFill>
                <a:latin typeface="Georgia"/>
                <a:ea typeface="Georgia"/>
                <a:cs typeface="Georgia"/>
                <a:sym typeface="Georgia"/>
              </a:rPr>
              <a:t>add-on take-up</a:t>
            </a:r>
            <a:r>
              <a:rPr i="0" lang="en-GB" sz="1000" u="none" cap="none" strike="noStrike">
                <a:solidFill>
                  <a:srgbClr val="5F5E5A"/>
                </a:solidFill>
                <a:latin typeface="Georgia"/>
                <a:ea typeface="Georgia"/>
                <a:cs typeface="Georgia"/>
                <a:sym typeface="Georgia"/>
              </a:rPr>
              <a:t>.</a:t>
            </a:r>
            <a:endParaRPr sz="1100">
              <a:latin typeface="Georgia"/>
              <a:ea typeface="Georgia"/>
              <a:cs typeface="Georgia"/>
              <a:sym typeface="Georgia"/>
            </a:endParaRPr>
          </a:p>
        </p:txBody>
      </p:sp>
      <p:graphicFrame>
        <p:nvGraphicFramePr>
          <p:cNvPr id="206" name="Google Shape;206;p34"/>
          <p:cNvGraphicFramePr/>
          <p:nvPr/>
        </p:nvGraphicFramePr>
        <p:xfrm>
          <a:off x="514364" y="1371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{56DD356D-7530-47AD-A647-A0787A634382}</a:tableStyleId>
              </a:tblPr>
              <a:tblGrid>
                <a:gridCol w="1817400"/>
                <a:gridCol w="1577375"/>
                <a:gridCol w="1577375"/>
                <a:gridCol w="1577375"/>
                <a:gridCol w="1577375"/>
              </a:tblGrid>
              <a:tr h="321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3725" marB="13725" marR="48000" marL="61725" anchor="ctr">
                    <a:solidFill>
                      <a:srgbClr val="2C58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900">
                          <a:solidFill>
                            <a:srgbClr val="FFFFFF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C1 · Watchlist</a:t>
                      </a:r>
                      <a:endParaRPr sz="1100"/>
                    </a:p>
                  </a:txBody>
                  <a:tcPr marT="13725" marB="13725" marR="48000" marL="61725" anchor="ctr">
                    <a:solidFill>
                      <a:srgbClr val="2C58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900">
                          <a:solidFill>
                            <a:srgbClr val="FFFFFF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C2 · Low-usage loyal</a:t>
                      </a:r>
                      <a:endParaRPr sz="1100"/>
                    </a:p>
                  </a:txBody>
                  <a:tcPr marT="13725" marB="13725" marR="48000" marL="61725" anchor="ctr">
                    <a:solidFill>
                      <a:srgbClr val="2C58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900">
                          <a:solidFill>
                            <a:srgbClr val="FFFFFF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C3 · Loyal high-value</a:t>
                      </a:r>
                      <a:endParaRPr sz="1100"/>
                    </a:p>
                  </a:txBody>
                  <a:tcPr marT="13725" marB="13725" marR="48000" marL="61725" anchor="ctr">
                    <a:solidFill>
                      <a:srgbClr val="2C58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900">
                          <a:solidFill>
                            <a:srgbClr val="FFFFFF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C4 · New low-spend</a:t>
                      </a:r>
                      <a:endParaRPr sz="1100"/>
                    </a:p>
                  </a:txBody>
                  <a:tcPr marT="13725" marB="13725" marR="48000" marL="61725" anchor="ctr">
                    <a:solidFill>
                      <a:srgbClr val="2C587E"/>
                    </a:solidFill>
                  </a:tcPr>
                </a:tc>
              </a:tr>
              <a:tr h="321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>
                          <a:solidFill>
                            <a:srgbClr val="2C587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Customers</a:t>
                      </a:r>
                      <a:endParaRPr sz="1100"/>
                    </a:p>
                  </a:txBody>
                  <a:tcPr marT="13725" marB="13725" marR="48000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1,551  (30%)</a:t>
                      </a:r>
                      <a:endParaRPr sz="1100"/>
                    </a:p>
                  </a:txBody>
                  <a:tcPr marT="13725" marB="13725" marR="48000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805  (16%)</a:t>
                      </a:r>
                      <a:endParaRPr sz="1100"/>
                    </a:p>
                  </a:txBody>
                  <a:tcPr marT="13725" marB="13725" marR="48000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1,629  (31%)</a:t>
                      </a:r>
                      <a:endParaRPr sz="1100"/>
                    </a:p>
                  </a:txBody>
                  <a:tcPr marT="13725" marB="13725" marR="48000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1,189  (23%)</a:t>
                      </a:r>
                      <a:endParaRPr sz="1100"/>
                    </a:p>
                  </a:txBody>
                  <a:tcPr marT="13725" marB="13725" marR="48000" marL="61725" anchor="ctr">
                    <a:solidFill>
                      <a:srgbClr val="FFFFFF"/>
                    </a:solidFill>
                  </a:tcPr>
                </a:tc>
              </a:tr>
              <a:tr h="321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>
                          <a:solidFill>
                            <a:srgbClr val="2C587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Avg tenure</a:t>
                      </a:r>
                      <a:endParaRPr sz="1100"/>
                    </a:p>
                  </a:txBody>
                  <a:tcPr marT="13725" marB="13725" marR="48000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23 months</a:t>
                      </a:r>
                      <a:endParaRPr sz="1100"/>
                    </a:p>
                  </a:txBody>
                  <a:tcPr marT="13725" marB="13725" marR="48000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56 months</a:t>
                      </a:r>
                      <a:endParaRPr sz="1100"/>
                    </a:p>
                  </a:txBody>
                  <a:tcPr marT="13725" marB="13725" marR="48000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61 months</a:t>
                      </a:r>
                      <a:endParaRPr sz="1100"/>
                    </a:p>
                  </a:txBody>
                  <a:tcPr marT="13725" marB="13725" marR="48000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 months</a:t>
                      </a:r>
                      <a:endParaRPr sz="1100"/>
                    </a:p>
                  </a:txBody>
                  <a:tcPr marT="13725" marB="13725" marR="48000" marL="61725" anchor="ctr">
                    <a:solidFill>
                      <a:srgbClr val="FFFFFF"/>
                    </a:solidFill>
                  </a:tcPr>
                </a:tc>
              </a:tr>
              <a:tr h="321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>
                          <a:solidFill>
                            <a:srgbClr val="2C587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Avg monthly charge</a:t>
                      </a:r>
                      <a:endParaRPr sz="1100"/>
                    </a:p>
                  </a:txBody>
                  <a:tcPr marT="13725" marB="13725" marR="48000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$73</a:t>
                      </a:r>
                      <a:endParaRPr sz="1100"/>
                    </a:p>
                  </a:txBody>
                  <a:tcPr marT="13725" marB="13725" marR="48000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$26</a:t>
                      </a:r>
                      <a:endParaRPr sz="1100"/>
                    </a:p>
                  </a:txBody>
                  <a:tcPr marT="13725" marB="13725" marR="48000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$91</a:t>
                      </a:r>
                      <a:endParaRPr sz="1100"/>
                    </a:p>
                  </a:txBody>
                  <a:tcPr marT="13725" marB="13725" marR="48000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$28</a:t>
                      </a:r>
                      <a:endParaRPr sz="1100"/>
                    </a:p>
                  </a:txBody>
                  <a:tcPr marT="13725" marB="13725" marR="48000" marL="61725" anchor="ctr">
                    <a:solidFill>
                      <a:srgbClr val="FFFFFF"/>
                    </a:solidFill>
                  </a:tcPr>
                </a:tc>
              </a:tr>
              <a:tr h="321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>
                          <a:solidFill>
                            <a:srgbClr val="2C587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Month-to-month</a:t>
                      </a:r>
                      <a:endParaRPr sz="1100"/>
                    </a:p>
                  </a:txBody>
                  <a:tcPr marT="13725" marB="13725" marR="48000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72%</a:t>
                      </a:r>
                      <a:endParaRPr sz="1100"/>
                    </a:p>
                  </a:txBody>
                  <a:tcPr marT="13725" marB="13725" marR="48000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8%</a:t>
                      </a:r>
                      <a:endParaRPr sz="1100"/>
                    </a:p>
                  </a:txBody>
                  <a:tcPr marT="13725" marB="13725" marR="48000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17%</a:t>
                      </a:r>
                      <a:endParaRPr sz="1100"/>
                    </a:p>
                  </a:txBody>
                  <a:tcPr marT="13725" marB="13725" marR="48000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64%</a:t>
                      </a:r>
                      <a:endParaRPr sz="1100"/>
                    </a:p>
                  </a:txBody>
                  <a:tcPr marT="13725" marB="13725" marR="48000" marL="61725" anchor="ctr">
                    <a:solidFill>
                      <a:srgbClr val="FFFFFF"/>
                    </a:solidFill>
                  </a:tcPr>
                </a:tc>
              </a:tr>
              <a:tr h="321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>
                          <a:solidFill>
                            <a:srgbClr val="2C587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Internet type</a:t>
                      </a:r>
                      <a:endParaRPr sz="1100"/>
                    </a:p>
                  </a:txBody>
                  <a:tcPr marT="13725" marB="13725" marR="48000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51% fibre</a:t>
                      </a:r>
                      <a:endParaRPr sz="1100"/>
                    </a:p>
                  </a:txBody>
                  <a:tcPr marT="13725" marB="13725" marR="48000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80% none</a:t>
                      </a:r>
                      <a:endParaRPr sz="1100"/>
                    </a:p>
                  </a:txBody>
                  <a:tcPr marT="13725" marB="13725" marR="48000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62% fibre</a:t>
                      </a:r>
                      <a:endParaRPr sz="1100"/>
                    </a:p>
                  </a:txBody>
                  <a:tcPr marT="13725" marB="13725" marR="48000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65% none</a:t>
                      </a:r>
                      <a:endParaRPr sz="1100"/>
                    </a:p>
                  </a:txBody>
                  <a:tcPr marT="13725" marB="13725" marR="48000" marL="61725" anchor="ctr">
                    <a:solidFill>
                      <a:srgbClr val="FFFFFF"/>
                    </a:solidFill>
                  </a:tcPr>
                </a:tc>
              </a:tr>
              <a:tr h="321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>
                          <a:solidFill>
                            <a:srgbClr val="2C587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Automatic payment</a:t>
                      </a:r>
                      <a:endParaRPr sz="1100"/>
                    </a:p>
                  </a:txBody>
                  <a:tcPr marT="13725" marB="13725" marR="48000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40%</a:t>
                      </a:r>
                      <a:endParaRPr sz="1100"/>
                    </a:p>
                  </a:txBody>
                  <a:tcPr marT="13725" marB="13725" marR="48000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66%</a:t>
                      </a:r>
                      <a:endParaRPr sz="1100"/>
                    </a:p>
                  </a:txBody>
                  <a:tcPr marT="13725" marB="13725" marR="48000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68%</a:t>
                      </a:r>
                      <a:endParaRPr sz="1100"/>
                    </a:p>
                  </a:txBody>
                  <a:tcPr marT="13725" marB="13725" marR="48000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27%</a:t>
                      </a:r>
                      <a:endParaRPr sz="1100"/>
                    </a:p>
                  </a:txBody>
                  <a:tcPr marT="13725" marB="13725" marR="48000" marL="61725" anchor="ctr">
                    <a:solidFill>
                      <a:srgbClr val="FFFFFF"/>
                    </a:solidFill>
                  </a:tcPr>
                </a:tc>
              </a:tr>
              <a:tr h="321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>
                          <a:solidFill>
                            <a:srgbClr val="2C587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Has online security</a:t>
                      </a:r>
                      <a:endParaRPr sz="1100"/>
                    </a:p>
                  </a:txBody>
                  <a:tcPr marT="13725" marB="13725" marR="48000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34%</a:t>
                      </a:r>
                      <a:endParaRPr sz="1100"/>
                    </a:p>
                  </a:txBody>
                  <a:tcPr marT="13725" marB="13725" marR="48000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12%</a:t>
                      </a:r>
                      <a:endParaRPr sz="1100"/>
                    </a:p>
                  </a:txBody>
                  <a:tcPr marT="13725" marB="13725" marR="48000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61%</a:t>
                      </a:r>
                      <a:endParaRPr sz="1100"/>
                    </a:p>
                  </a:txBody>
                  <a:tcPr marT="13725" marB="13725" marR="48000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9%</a:t>
                      </a:r>
                      <a:endParaRPr sz="1100"/>
                    </a:p>
                  </a:txBody>
                  <a:tcPr marT="13725" marB="13725" marR="48000" marL="617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7" name="Google Shape;207;p34"/>
          <p:cNvSpPr/>
          <p:nvPr/>
        </p:nvSpPr>
        <p:spPr>
          <a:xfrm>
            <a:off x="514364" y="4114800"/>
            <a:ext cx="8126947" cy="685800"/>
          </a:xfrm>
          <a:prstGeom prst="roundRect">
            <a:avLst>
              <a:gd fmla="val 8000" name="adj"/>
            </a:avLst>
          </a:prstGeom>
          <a:solidFill>
            <a:srgbClr val="F3EBE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34"/>
          <p:cNvSpPr txBox="1"/>
          <p:nvPr/>
        </p:nvSpPr>
        <p:spPr>
          <a:xfrm>
            <a:off x="754400" y="4265676"/>
            <a:ext cx="7647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000" u="none" cap="none" strike="noStrike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Retained C1 looks like a</a:t>
            </a:r>
            <a:r>
              <a:rPr b="1" i="0" lang="en-GB" sz="1000" u="none" cap="none" strike="noStrike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 churner cluster </a:t>
            </a:r>
            <a:r>
              <a:rPr i="0" lang="en-GB" sz="1000" u="none" cap="none" strike="noStrike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(</a:t>
            </a:r>
            <a:r>
              <a:rPr b="1" i="0" lang="en-GB" sz="1000" u="none" cap="none" strike="noStrike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72% month-to-month, mid charges</a:t>
            </a:r>
            <a:r>
              <a:rPr i="0" lang="en-GB" sz="1000" u="none" cap="none" strike="noStrike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)</a:t>
            </a:r>
            <a:r>
              <a:rPr b="1" i="0" lang="en-GB" sz="1000" u="none" cap="none" strike="noStrike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i="0" lang="en-GB" sz="1000" u="none" cap="none" strike="noStrike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-</a:t>
            </a:r>
            <a:r>
              <a:rPr b="1" i="0" lang="en-GB" sz="1000" u="none" cap="none" strike="noStrike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i="0" lang="en-GB" sz="1000" u="none" cap="none" strike="noStrike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it is the</a:t>
            </a:r>
            <a:r>
              <a:rPr b="1" i="0" lang="en-GB" sz="1000" u="none" cap="none" strike="noStrike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 watchlist. </a:t>
            </a:r>
            <a:r>
              <a:rPr i="0" lang="en-GB" sz="1000" u="none" cap="none" strike="noStrike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Retained C3 </a:t>
            </a:r>
            <a:r>
              <a:rPr lang="en-GB" sz="1000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suggest</a:t>
            </a:r>
            <a:r>
              <a:rPr b="1" i="0" lang="en-GB" sz="1000" u="none" cap="none" strike="noStrike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 high-spend fibre customers stay </a:t>
            </a:r>
            <a:r>
              <a:rPr i="0" lang="en-GB" sz="1000" u="none" cap="none" strike="noStrike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when</a:t>
            </a:r>
            <a:r>
              <a:rPr b="1" i="0" lang="en-GB" sz="1000" u="none" cap="none" strike="noStrike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b="1" lang="en-GB" sz="1000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on a term contract</a:t>
            </a:r>
            <a:r>
              <a:rPr b="1" i="0" lang="en-GB" sz="1000" u="none" cap="none" strike="noStrike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i="0" lang="en-GB" sz="1000" u="none" cap="none" strike="noStrike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and</a:t>
            </a:r>
            <a:r>
              <a:rPr b="1" i="0" lang="en-GB" sz="1000" u="none" cap="none" strike="noStrike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 using add-ons.</a:t>
            </a:r>
            <a:endParaRPr sz="1100"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5"/>
          <p:cNvSpPr txBox="1"/>
          <p:nvPr/>
        </p:nvSpPr>
        <p:spPr>
          <a:xfrm>
            <a:off x="480073" y="377190"/>
            <a:ext cx="8229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900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Comparison</a:t>
            </a:r>
            <a:r>
              <a:rPr b="1" i="0" lang="en-GB" sz="1900" u="none" cap="none" strike="noStrike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: </a:t>
            </a:r>
            <a:r>
              <a:rPr b="1" lang="en-GB" sz="1900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W</a:t>
            </a:r>
            <a:r>
              <a:rPr b="1" i="0" lang="en-GB" sz="1900" u="none" cap="none" strike="noStrike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hat </a:t>
            </a:r>
            <a:r>
              <a:rPr b="1" lang="en-GB" sz="1900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S</a:t>
            </a:r>
            <a:r>
              <a:rPr b="1" i="0" lang="en-GB" sz="1900" u="none" cap="none" strike="noStrike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eparates a </a:t>
            </a:r>
            <a:r>
              <a:rPr b="1" lang="en-GB" sz="1900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L</a:t>
            </a:r>
            <a:r>
              <a:rPr b="1" i="0" lang="en-GB" sz="1900" u="none" cap="none" strike="noStrike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oyal </a:t>
            </a:r>
            <a:r>
              <a:rPr b="1" lang="en-GB" sz="1900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H</a:t>
            </a:r>
            <a:r>
              <a:rPr b="1" i="0" lang="en-GB" sz="1900" u="none" cap="none" strike="noStrike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igh-spender from a </a:t>
            </a:r>
            <a:r>
              <a:rPr b="1" lang="en-GB" sz="1900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C</a:t>
            </a:r>
            <a:r>
              <a:rPr b="1" i="0" lang="en-GB" sz="1900" u="none" cap="none" strike="noStrike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hurning </a:t>
            </a:r>
            <a:r>
              <a:rPr b="1" lang="en-GB" sz="1900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O</a:t>
            </a:r>
            <a:r>
              <a:rPr b="1" i="0" lang="en-GB" sz="1900" u="none" cap="none" strike="noStrike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ne?</a:t>
            </a:r>
            <a:endParaRPr sz="1100"/>
          </a:p>
        </p:txBody>
      </p:sp>
      <p:sp>
        <p:nvSpPr>
          <p:cNvPr id="214" name="Google Shape;214;p35"/>
          <p:cNvSpPr/>
          <p:nvPr/>
        </p:nvSpPr>
        <p:spPr>
          <a:xfrm>
            <a:off x="480073" y="1337310"/>
            <a:ext cx="4012037" cy="3154680"/>
          </a:xfrm>
          <a:prstGeom prst="roundRect">
            <a:avLst>
              <a:gd fmla="val 8000" name="adj"/>
            </a:avLst>
          </a:prstGeom>
          <a:solidFill>
            <a:srgbClr val="FBEAE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35"/>
          <p:cNvSpPr txBox="1"/>
          <p:nvPr/>
        </p:nvSpPr>
        <p:spPr>
          <a:xfrm>
            <a:off x="720109" y="1543050"/>
            <a:ext cx="3566400" cy="18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300" u="none" cap="none" strike="noStrike">
                <a:solidFill>
                  <a:srgbClr val="D15115"/>
                </a:solidFill>
                <a:latin typeface="Georgia"/>
                <a:ea typeface="Georgia"/>
                <a:cs typeface="Georgia"/>
                <a:sym typeface="Georgia"/>
              </a:rPr>
              <a:t>Churned C2 · Established | </a:t>
            </a:r>
            <a:r>
              <a:rPr b="1" lang="en-GB" sz="1300">
                <a:solidFill>
                  <a:srgbClr val="D15115"/>
                </a:solidFill>
                <a:latin typeface="Georgia"/>
                <a:ea typeface="Georgia"/>
                <a:cs typeface="Georgia"/>
                <a:sym typeface="Georgia"/>
              </a:rPr>
              <a:t>F</a:t>
            </a:r>
            <a:r>
              <a:rPr b="1" i="0" lang="en-GB" sz="1300" u="none" cap="none" strike="noStrike">
                <a:solidFill>
                  <a:srgbClr val="D15115"/>
                </a:solidFill>
                <a:latin typeface="Georgia"/>
                <a:ea typeface="Georgia"/>
                <a:cs typeface="Georgia"/>
                <a:sym typeface="Georgia"/>
              </a:rPr>
              <a:t>ibre</a:t>
            </a:r>
            <a:r>
              <a:rPr b="1" lang="en-GB" sz="1300">
                <a:solidFill>
                  <a:srgbClr val="D15115"/>
                </a:solidFill>
                <a:latin typeface="Georgia"/>
                <a:ea typeface="Georgia"/>
                <a:cs typeface="Georgia"/>
                <a:sym typeface="Georgia"/>
              </a:rPr>
              <a:t>-optic Internet Service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i="1" lang="en-GB" sz="900" u="none" cap="none" strike="noStrike">
                <a:solidFill>
                  <a:srgbClr val="A47147"/>
                </a:solidFill>
                <a:latin typeface="Georgia"/>
                <a:ea typeface="Georgia"/>
                <a:cs typeface="Georgia"/>
                <a:sym typeface="Georgia"/>
              </a:rPr>
              <a:t>48 months tenure  ·  $94 / month</a:t>
            </a:r>
            <a:endParaRPr i="1" sz="900" u="none" cap="none" strike="noStrike">
              <a:solidFill>
                <a:srgbClr val="A47147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i="1" sz="900">
              <a:solidFill>
                <a:srgbClr val="A47147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i="0" lang="en-GB" sz="1000" u="none" cap="none" strike="noStrike">
                <a:solidFill>
                  <a:srgbClr val="D15115"/>
                </a:solidFill>
                <a:latin typeface="Georgia"/>
                <a:ea typeface="Georgia"/>
                <a:cs typeface="Georgia"/>
                <a:sym typeface="Georgia"/>
              </a:rPr>
              <a:t>•  </a:t>
            </a:r>
            <a:r>
              <a:rPr i="0" lang="en-GB" sz="1000" u="none" cap="none" strike="noStrike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61% still </a:t>
            </a:r>
            <a:r>
              <a:rPr b="1" i="0" lang="en-GB" sz="1000" u="none" cap="none" strike="noStrike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month-to-month</a:t>
            </a:r>
            <a:endParaRPr b="1" sz="11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i="0" lang="en-GB" sz="1000" u="none" cap="none" strike="noStrike">
                <a:solidFill>
                  <a:srgbClr val="D15115"/>
                </a:solidFill>
                <a:latin typeface="Georgia"/>
                <a:ea typeface="Georgia"/>
                <a:cs typeface="Georgia"/>
                <a:sym typeface="Georgia"/>
              </a:rPr>
              <a:t>• </a:t>
            </a:r>
            <a:r>
              <a:rPr b="1" i="0" lang="en-GB" sz="1000" u="none" cap="none" strike="noStrike">
                <a:solidFill>
                  <a:srgbClr val="D15115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b="1" i="0" lang="en-GB" sz="1000" u="none" cap="none" strike="noStrike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Only</a:t>
            </a:r>
            <a:r>
              <a:rPr i="0" lang="en-GB" sz="1000" u="none" cap="none" strike="noStrike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 43% on automatic payment</a:t>
            </a:r>
            <a:endParaRPr sz="11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i="0" lang="en-GB" sz="1000" u="none" cap="none" strike="noStrike">
                <a:solidFill>
                  <a:srgbClr val="D15115"/>
                </a:solidFill>
                <a:latin typeface="Georgia"/>
                <a:ea typeface="Georgia"/>
                <a:cs typeface="Georgia"/>
                <a:sym typeface="Georgia"/>
              </a:rPr>
              <a:t>•  </a:t>
            </a:r>
            <a:r>
              <a:rPr b="1" i="0" lang="en-GB" sz="1000" u="none" cap="none" strike="noStrike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Only</a:t>
            </a:r>
            <a:r>
              <a:rPr i="0" lang="en-GB" sz="1000" u="none" cap="none" strike="noStrike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 29% hold online security add-on</a:t>
            </a:r>
            <a:endParaRPr sz="11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i="0" lang="en-GB" sz="1000" u="none" cap="none" strike="noStrike">
                <a:solidFill>
                  <a:srgbClr val="D15115"/>
                </a:solidFill>
                <a:latin typeface="Georgia"/>
                <a:ea typeface="Georgia"/>
                <a:cs typeface="Georgia"/>
                <a:sym typeface="Georgia"/>
              </a:rPr>
              <a:t>•  </a:t>
            </a:r>
            <a:r>
              <a:rPr i="0" lang="en-GB" sz="1000" u="none" cap="none" strike="noStrike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53% pay by </a:t>
            </a:r>
            <a:r>
              <a:rPr b="1" i="0" lang="en-GB" sz="1000" u="none" cap="none" strike="noStrike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electronic check </a:t>
            </a:r>
            <a:r>
              <a:rPr lang="en-GB" sz="1000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- a </a:t>
            </a:r>
            <a:r>
              <a:rPr b="1" lang="en-GB" sz="1000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manual payment method</a:t>
            </a:r>
            <a:r>
              <a:rPr lang="en-GB" sz="1000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 (more friction, more likely to churn)</a:t>
            </a:r>
            <a:endParaRPr sz="11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16" name="Google Shape;216;p35"/>
          <p:cNvSpPr/>
          <p:nvPr/>
        </p:nvSpPr>
        <p:spPr>
          <a:xfrm>
            <a:off x="4663564" y="1337310"/>
            <a:ext cx="4012037" cy="3154680"/>
          </a:xfrm>
          <a:prstGeom prst="roundRect">
            <a:avLst>
              <a:gd fmla="val 8000" name="adj"/>
            </a:avLst>
          </a:prstGeom>
          <a:solidFill>
            <a:srgbClr val="EAF0F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35"/>
          <p:cNvSpPr txBox="1"/>
          <p:nvPr/>
        </p:nvSpPr>
        <p:spPr>
          <a:xfrm>
            <a:off x="4903601" y="1543050"/>
            <a:ext cx="3566400" cy="16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300" u="none" cap="none" strike="noStrike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Retained C3 · Loyal | </a:t>
            </a:r>
            <a:r>
              <a:rPr b="1" lang="en-GB" sz="1300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H</a:t>
            </a:r>
            <a:r>
              <a:rPr b="1" i="0" lang="en-GB" sz="1300" u="none" cap="none" strike="noStrike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igh-value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i="1" lang="en-GB" sz="900" u="none" cap="none" strike="noStrike">
                <a:solidFill>
                  <a:srgbClr val="A47147"/>
                </a:solidFill>
                <a:latin typeface="Georgia"/>
                <a:ea typeface="Georgia"/>
                <a:cs typeface="Georgia"/>
                <a:sym typeface="Georgia"/>
              </a:rPr>
              <a:t>61 months tenure  ·  $91 / month</a:t>
            </a:r>
            <a:endParaRPr i="1" sz="900" u="none" cap="none" strike="noStrike">
              <a:solidFill>
                <a:srgbClr val="A47147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i="1" sz="900">
              <a:solidFill>
                <a:srgbClr val="A47147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i="1" sz="900">
              <a:solidFill>
                <a:srgbClr val="A47147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i="0" lang="en-GB" sz="1000" u="none" cap="none" strike="noStrike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•  </a:t>
            </a:r>
            <a:r>
              <a:rPr i="0" lang="en-GB" sz="1000" u="none" cap="none" strike="noStrike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83% on a </a:t>
            </a:r>
            <a:r>
              <a:rPr b="1" i="0" lang="en-GB" sz="1000" u="none" cap="none" strike="noStrike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one- or two-year contract</a:t>
            </a:r>
            <a:endParaRPr b="1" sz="11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i="0" lang="en-GB" sz="1000" u="none" cap="none" strike="noStrike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•  </a:t>
            </a:r>
            <a:r>
              <a:rPr i="0" lang="en-GB" sz="1000" u="none" cap="none" strike="noStrike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68% on </a:t>
            </a:r>
            <a:r>
              <a:rPr b="1" i="0" lang="en-GB" sz="1000" u="none" cap="none" strike="noStrike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automatic payment</a:t>
            </a:r>
            <a:endParaRPr b="1" sz="11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i="0" lang="en-GB" sz="1000" u="none" cap="none" strike="noStrike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•  </a:t>
            </a:r>
            <a:r>
              <a:rPr i="0" lang="en-GB" sz="1000" u="none" cap="none" strike="noStrike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61% hold </a:t>
            </a:r>
            <a:r>
              <a:rPr b="1" i="0" lang="en-GB" sz="1000" u="none" cap="none" strike="noStrike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online security add-on</a:t>
            </a:r>
            <a:endParaRPr b="1" sz="11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i="0" lang="en-GB" sz="1000" u="none" cap="none" strike="noStrike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•  </a:t>
            </a:r>
            <a:r>
              <a:rPr b="1" i="0" lang="en-GB" sz="1000" u="none" cap="none" strike="noStrike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Only </a:t>
            </a:r>
            <a:r>
              <a:rPr i="0" lang="en-GB" sz="1000" u="none" cap="none" strike="noStrike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24% pay by electronic check</a:t>
            </a:r>
            <a:endParaRPr sz="11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18" name="Google Shape;218;p35"/>
          <p:cNvSpPr txBox="1"/>
          <p:nvPr/>
        </p:nvSpPr>
        <p:spPr>
          <a:xfrm>
            <a:off x="834307" y="4588055"/>
            <a:ext cx="74754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900" u="none" cap="none" strike="noStrike">
                <a:solidFill>
                  <a:srgbClr val="5F5E5A"/>
                </a:solidFill>
                <a:latin typeface="Georgia"/>
                <a:ea typeface="Georgia"/>
                <a:cs typeface="Georgia"/>
                <a:sym typeface="Georgia"/>
              </a:rPr>
              <a:t>S</a:t>
            </a:r>
            <a:r>
              <a:rPr i="1" lang="en-GB" sz="900">
                <a:solidFill>
                  <a:srgbClr val="5F5E5A"/>
                </a:solidFill>
                <a:latin typeface="Georgia"/>
                <a:ea typeface="Georgia"/>
                <a:cs typeface="Georgia"/>
                <a:sym typeface="Georgia"/>
              </a:rPr>
              <a:t>imilar service/products</a:t>
            </a:r>
            <a:r>
              <a:rPr i="1" lang="en-GB" sz="900" u="none" cap="none" strike="noStrike">
                <a:solidFill>
                  <a:srgbClr val="5F5E5A"/>
                </a:solidFill>
                <a:latin typeface="Georgia"/>
                <a:ea typeface="Georgia"/>
                <a:cs typeface="Georgia"/>
                <a:sym typeface="Georgia"/>
              </a:rPr>
              <a:t>, </a:t>
            </a:r>
            <a:r>
              <a:rPr i="1" lang="en-GB" sz="900">
                <a:solidFill>
                  <a:srgbClr val="5F5E5A"/>
                </a:solidFill>
                <a:latin typeface="Georgia"/>
                <a:ea typeface="Georgia"/>
                <a:cs typeface="Georgia"/>
                <a:sym typeface="Georgia"/>
              </a:rPr>
              <a:t>similar</a:t>
            </a:r>
            <a:r>
              <a:rPr i="1" lang="en-GB" sz="900" u="none" cap="none" strike="noStrike">
                <a:solidFill>
                  <a:srgbClr val="5F5E5A"/>
                </a:solidFill>
                <a:latin typeface="Georgia"/>
                <a:ea typeface="Georgia"/>
                <a:cs typeface="Georgia"/>
                <a:sym typeface="Georgia"/>
              </a:rPr>
              <a:t> spends - the difference is </a:t>
            </a:r>
            <a:r>
              <a:rPr b="1" i="1" lang="en-GB" sz="900" u="none" cap="none" strike="noStrike">
                <a:solidFill>
                  <a:srgbClr val="5F5E5A"/>
                </a:solidFill>
                <a:latin typeface="Georgia"/>
                <a:ea typeface="Georgia"/>
                <a:cs typeface="Georgia"/>
                <a:sym typeface="Georgia"/>
              </a:rPr>
              <a:t>contract lock-in</a:t>
            </a:r>
            <a:r>
              <a:rPr i="1" lang="en-GB" sz="900" u="none" cap="none" strike="noStrike">
                <a:solidFill>
                  <a:srgbClr val="5F5E5A"/>
                </a:solidFill>
                <a:latin typeface="Georgia"/>
                <a:ea typeface="Georgia"/>
                <a:cs typeface="Georgia"/>
                <a:sym typeface="Georgia"/>
              </a:rPr>
              <a:t>, </a:t>
            </a:r>
            <a:r>
              <a:rPr b="1" i="1" lang="en-GB" sz="900" u="none" cap="none" strike="noStrike">
                <a:solidFill>
                  <a:srgbClr val="5F5E5A"/>
                </a:solidFill>
                <a:latin typeface="Georgia"/>
                <a:ea typeface="Georgia"/>
                <a:cs typeface="Georgia"/>
                <a:sym typeface="Georgia"/>
              </a:rPr>
              <a:t>automatic payment </a:t>
            </a:r>
            <a:r>
              <a:rPr i="1" lang="en-GB" sz="900" u="none" cap="none" strike="noStrike">
                <a:solidFill>
                  <a:srgbClr val="5F5E5A"/>
                </a:solidFill>
                <a:latin typeface="Georgia"/>
                <a:ea typeface="Georgia"/>
                <a:cs typeface="Georgia"/>
                <a:sym typeface="Georgia"/>
              </a:rPr>
              <a:t>and </a:t>
            </a:r>
            <a:r>
              <a:rPr b="1" i="1" lang="en-GB" sz="900" u="none" cap="none" strike="noStrike">
                <a:solidFill>
                  <a:srgbClr val="5F5E5A"/>
                </a:solidFill>
                <a:latin typeface="Georgia"/>
                <a:ea typeface="Georgia"/>
                <a:cs typeface="Georgia"/>
                <a:sym typeface="Georgia"/>
              </a:rPr>
              <a:t>add-ons</a:t>
            </a:r>
            <a:r>
              <a:rPr i="1" lang="en-GB" sz="900">
                <a:solidFill>
                  <a:srgbClr val="5F5E5A"/>
                </a:solidFill>
                <a:latin typeface="Georgia"/>
                <a:ea typeface="Georgia"/>
                <a:cs typeface="Georgia"/>
                <a:sym typeface="Georgia"/>
              </a:rPr>
              <a:t>.</a:t>
            </a:r>
            <a:endParaRPr sz="1000"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6"/>
          <p:cNvSpPr txBox="1"/>
          <p:nvPr/>
        </p:nvSpPr>
        <p:spPr>
          <a:xfrm>
            <a:off x="480073" y="377190"/>
            <a:ext cx="8229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Identified: </a:t>
            </a:r>
            <a:r>
              <a:rPr b="1" i="0" lang="en-GB" sz="2000" u="none" cap="none" strike="noStrike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A </a:t>
            </a:r>
            <a:r>
              <a:rPr b="1" lang="en-GB" sz="2000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H</a:t>
            </a:r>
            <a:r>
              <a:rPr b="1" i="0" lang="en-GB" sz="2000" u="none" cap="none" strike="noStrike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igh-risk </a:t>
            </a:r>
            <a:r>
              <a:rPr b="1" lang="en-GB" sz="2000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C</a:t>
            </a:r>
            <a:r>
              <a:rPr b="1" i="0" lang="en-GB" sz="2000" u="none" cap="none" strike="noStrike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hurner </a:t>
            </a:r>
            <a:r>
              <a:rPr b="1" lang="en-GB" sz="2000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A</a:t>
            </a:r>
            <a:r>
              <a:rPr b="1" i="0" lang="en-GB" sz="2000" u="none" cap="none" strike="noStrike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rchetype (5</a:t>
            </a:r>
            <a:r>
              <a:rPr b="1" lang="en-GB" sz="2000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r>
              <a:rPr b="1" i="0" lang="en-GB" sz="2000" u="none" cap="none" strike="noStrike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%) and an </a:t>
            </a:r>
            <a:r>
              <a:rPr b="1" lang="en-GB" sz="2000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at-risk</a:t>
            </a:r>
            <a:r>
              <a:rPr b="1" i="0" lang="en-GB" sz="2000" u="none" cap="none" strike="noStrike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b="1" lang="en-GB" sz="2000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Group of Current Customers</a:t>
            </a:r>
            <a:endParaRPr sz="1100"/>
          </a:p>
        </p:txBody>
      </p:sp>
      <p:pic>
        <p:nvPicPr>
          <p:cNvPr descr="churned_clusters.png" id="224" name="Google Shape;224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0073" y="1645920"/>
            <a:ext cx="4110766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36"/>
          <p:cNvSpPr/>
          <p:nvPr/>
        </p:nvSpPr>
        <p:spPr>
          <a:xfrm>
            <a:off x="4766437" y="1405889"/>
            <a:ext cx="3874873" cy="1577340"/>
          </a:xfrm>
          <a:prstGeom prst="roundRect">
            <a:avLst>
              <a:gd fmla="val 8000" name="adj"/>
            </a:avLst>
          </a:prstGeom>
          <a:solidFill>
            <a:srgbClr val="FBEAE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36"/>
          <p:cNvSpPr txBox="1"/>
          <p:nvPr/>
        </p:nvSpPr>
        <p:spPr>
          <a:xfrm>
            <a:off x="5006473" y="1577340"/>
            <a:ext cx="3429000" cy="8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100" u="none" cap="none" strike="noStrike">
                <a:solidFill>
                  <a:srgbClr val="D15115"/>
                </a:solidFill>
                <a:latin typeface="Georgia"/>
                <a:ea typeface="Georgia"/>
                <a:cs typeface="Georgia"/>
                <a:sym typeface="Georgia"/>
              </a:rPr>
              <a:t>Churned Cluster 3 (C3)</a:t>
            </a:r>
            <a:r>
              <a:rPr b="1" lang="en-GB" sz="1100">
                <a:solidFill>
                  <a:srgbClr val="D15115"/>
                </a:solidFill>
                <a:latin typeface="Georgia"/>
                <a:ea typeface="Georgia"/>
                <a:cs typeface="Georgia"/>
                <a:sym typeface="Georgia"/>
              </a:rPr>
              <a:t>: H</a:t>
            </a:r>
            <a:r>
              <a:rPr b="1" i="0" lang="en-GB" sz="1100" u="none" cap="none" strike="noStrike">
                <a:solidFill>
                  <a:srgbClr val="D15115"/>
                </a:solidFill>
                <a:latin typeface="Georgia"/>
                <a:ea typeface="Georgia"/>
                <a:cs typeface="Georgia"/>
                <a:sym typeface="Georgia"/>
              </a:rPr>
              <a:t>igh-risk (5</a:t>
            </a:r>
            <a:r>
              <a:rPr b="1" lang="en-GB" sz="1100">
                <a:solidFill>
                  <a:srgbClr val="D15115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r>
              <a:rPr b="1" i="0" lang="en-GB" sz="1100" u="none" cap="none" strike="noStrike">
                <a:solidFill>
                  <a:srgbClr val="D15115"/>
                </a:solidFill>
                <a:latin typeface="Georgia"/>
                <a:ea typeface="Georgia"/>
                <a:cs typeface="Georgia"/>
                <a:sym typeface="Georgia"/>
              </a:rPr>
              <a:t>% of churners)</a:t>
            </a:r>
            <a:endParaRPr b="1" i="0" sz="1100" u="none" cap="none" strike="noStrike">
              <a:solidFill>
                <a:srgbClr val="D15115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D15115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i="0" lang="en-GB" sz="1000" u="none" cap="none" strike="noStrike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Short tenure, high charges, </a:t>
            </a:r>
            <a:r>
              <a:rPr b="1" i="0" lang="en-GB" sz="1000" u="none" cap="none" strike="noStrike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~98% month-to-month</a:t>
            </a:r>
            <a:r>
              <a:rPr i="0" lang="en-GB" sz="1000" u="none" cap="none" strike="noStrike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, fibre optic, </a:t>
            </a:r>
            <a:r>
              <a:rPr b="1" i="0" lang="en-GB" sz="1000" u="none" cap="none" strike="noStrike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almost no add-ons</a:t>
            </a:r>
            <a:r>
              <a:rPr i="0" lang="en-GB" sz="1000" u="none" cap="none" strike="noStrike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.</a:t>
            </a:r>
            <a:endParaRPr sz="11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27" name="Google Shape;227;p36"/>
          <p:cNvSpPr/>
          <p:nvPr/>
        </p:nvSpPr>
        <p:spPr>
          <a:xfrm>
            <a:off x="4766437" y="3120390"/>
            <a:ext cx="3874873" cy="1577340"/>
          </a:xfrm>
          <a:prstGeom prst="roundRect">
            <a:avLst>
              <a:gd fmla="val 8000" name="adj"/>
            </a:avLst>
          </a:prstGeom>
          <a:solidFill>
            <a:srgbClr val="F3EBE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36"/>
          <p:cNvSpPr txBox="1"/>
          <p:nvPr/>
        </p:nvSpPr>
        <p:spPr>
          <a:xfrm>
            <a:off x="5006473" y="3291840"/>
            <a:ext cx="3429000" cy="8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100" u="none" cap="none" strike="noStrike">
                <a:solidFill>
                  <a:srgbClr val="A47147"/>
                </a:solidFill>
                <a:latin typeface="Georgia"/>
                <a:ea typeface="Georgia"/>
                <a:cs typeface="Georgia"/>
                <a:sym typeface="Georgia"/>
              </a:rPr>
              <a:t>Retained Cluster 1 (C1)</a:t>
            </a:r>
            <a:r>
              <a:rPr b="1" lang="en-GB" sz="1100">
                <a:solidFill>
                  <a:srgbClr val="A47147"/>
                </a:solidFill>
                <a:latin typeface="Georgia"/>
                <a:ea typeface="Georgia"/>
                <a:cs typeface="Georgia"/>
                <a:sym typeface="Georgia"/>
              </a:rPr>
              <a:t>:</a:t>
            </a:r>
            <a:r>
              <a:rPr b="1" i="0" lang="en-GB" sz="1100" u="none" cap="none" strike="noStrike">
                <a:solidFill>
                  <a:srgbClr val="A47147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b="1" lang="en-GB" sz="1100">
                <a:solidFill>
                  <a:srgbClr val="A47147"/>
                </a:solidFill>
                <a:latin typeface="Georgia"/>
                <a:ea typeface="Georgia"/>
                <a:cs typeface="Georgia"/>
                <a:sym typeface="Georgia"/>
              </a:rPr>
              <a:t>T</a:t>
            </a:r>
            <a:r>
              <a:rPr b="1" i="0" lang="en-GB" sz="1100" u="none" cap="none" strike="noStrike">
                <a:solidFill>
                  <a:srgbClr val="A47147"/>
                </a:solidFill>
                <a:latin typeface="Georgia"/>
                <a:ea typeface="Georgia"/>
                <a:cs typeface="Georgia"/>
                <a:sym typeface="Georgia"/>
              </a:rPr>
              <a:t>he </a:t>
            </a:r>
            <a:r>
              <a:rPr b="1" lang="en-GB" sz="1100">
                <a:solidFill>
                  <a:srgbClr val="A47147"/>
                </a:solidFill>
                <a:latin typeface="Georgia"/>
                <a:ea typeface="Georgia"/>
                <a:cs typeface="Georgia"/>
                <a:sym typeface="Georgia"/>
              </a:rPr>
              <a:t>W</a:t>
            </a:r>
            <a:r>
              <a:rPr b="1" i="0" lang="en-GB" sz="1100" u="none" cap="none" strike="noStrike">
                <a:solidFill>
                  <a:srgbClr val="A47147"/>
                </a:solidFill>
                <a:latin typeface="Georgia"/>
                <a:ea typeface="Georgia"/>
                <a:cs typeface="Georgia"/>
                <a:sym typeface="Georgia"/>
              </a:rPr>
              <a:t>atchlist</a:t>
            </a:r>
            <a:endParaRPr b="1" i="0" sz="1100" u="none" cap="none" strike="noStrike">
              <a:solidFill>
                <a:srgbClr val="A47147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A47147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i="0" lang="en-GB" sz="1000" u="none" cap="none" strike="noStrike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Mid tenure, high charges, </a:t>
            </a:r>
            <a:r>
              <a:rPr b="1" i="0" lang="en-GB" sz="1000" u="none" cap="none" strike="noStrike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72% month-to-month</a:t>
            </a:r>
            <a:r>
              <a:rPr i="0" lang="en-GB" sz="1000" u="none" cap="none" strike="noStrike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 sz="1000">
              <a:solidFill>
                <a:srgbClr val="21212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(many characteristics</a:t>
            </a:r>
            <a:r>
              <a:rPr i="0" lang="en-GB" sz="1000" u="none" cap="none" strike="noStrike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 mirror </a:t>
            </a:r>
            <a:r>
              <a:rPr lang="en-GB" sz="1000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churned cluster 3</a:t>
            </a:r>
            <a:r>
              <a:rPr i="0" lang="en-GB" sz="1000" u="none" cap="none" strike="noStrike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, so it is the clearest target for proactive retention</a:t>
            </a:r>
            <a:r>
              <a:rPr lang="en-GB" sz="1000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)</a:t>
            </a:r>
            <a:r>
              <a:rPr i="0" lang="en-GB" sz="1000" u="none" cap="none" strike="noStrike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.</a:t>
            </a:r>
            <a:endParaRPr sz="1100"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7"/>
          <p:cNvSpPr/>
          <p:nvPr/>
        </p:nvSpPr>
        <p:spPr>
          <a:xfrm>
            <a:off x="0" y="0"/>
            <a:ext cx="9144015" cy="5143500"/>
          </a:xfrm>
          <a:prstGeom prst="rect">
            <a:avLst/>
          </a:prstGeom>
          <a:solidFill>
            <a:srgbClr val="2C587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37"/>
          <p:cNvSpPr txBox="1"/>
          <p:nvPr/>
        </p:nvSpPr>
        <p:spPr>
          <a:xfrm>
            <a:off x="685818" y="1714500"/>
            <a:ext cx="7749747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400" u="none" cap="none" strike="noStrike">
                <a:solidFill>
                  <a:srgbClr val="DAC3B4"/>
                </a:solidFill>
                <a:latin typeface="Georgia"/>
                <a:ea typeface="Georgia"/>
                <a:cs typeface="Georgia"/>
                <a:sym typeface="Georgia"/>
              </a:rPr>
              <a:t>Question 2 of 5</a:t>
            </a:r>
            <a:endParaRPr sz="1100"/>
          </a:p>
        </p:txBody>
      </p:sp>
      <p:sp>
        <p:nvSpPr>
          <p:cNvPr id="235" name="Google Shape;235;p37"/>
          <p:cNvSpPr txBox="1"/>
          <p:nvPr/>
        </p:nvSpPr>
        <p:spPr>
          <a:xfrm>
            <a:off x="685818" y="2297430"/>
            <a:ext cx="7749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Why are </a:t>
            </a:r>
            <a:r>
              <a:rPr b="1" lang="en-GB" sz="2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Customers</a:t>
            </a:r>
            <a:r>
              <a:rPr b="1" i="0" lang="en-GB" sz="2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b="1" lang="en-GB" sz="2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</a:t>
            </a:r>
            <a:r>
              <a:rPr b="1" i="0" lang="en-GB" sz="2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hurning?</a:t>
            </a:r>
            <a:endParaRPr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8"/>
          <p:cNvSpPr txBox="1"/>
          <p:nvPr/>
        </p:nvSpPr>
        <p:spPr>
          <a:xfrm>
            <a:off x="480073" y="377190"/>
            <a:ext cx="8229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Customers </a:t>
            </a:r>
            <a:r>
              <a:rPr b="1" lang="en-GB" sz="2000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Mostly L</a:t>
            </a:r>
            <a:r>
              <a:rPr b="1" i="0" lang="en-GB" sz="2000" u="none" cap="none" strike="noStrike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eave for </a:t>
            </a:r>
            <a:r>
              <a:rPr b="1" lang="en-GB" sz="2000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C</a:t>
            </a:r>
            <a:r>
              <a:rPr b="1" i="0" lang="en-GB" sz="2000" u="none" cap="none" strike="noStrike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ompetitors Offers and </a:t>
            </a:r>
            <a:r>
              <a:rPr b="1" lang="en-GB" sz="2000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Poor Service,</a:t>
            </a:r>
            <a:r>
              <a:rPr b="1" i="0" lang="en-GB" sz="2000" u="none" cap="none" strike="noStrike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 not </a:t>
            </a:r>
            <a:r>
              <a:rPr b="1" lang="en-GB" sz="2000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P</a:t>
            </a:r>
            <a:r>
              <a:rPr b="1" i="0" lang="en-GB" sz="2000" u="none" cap="none" strike="noStrike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rice</a:t>
            </a:r>
            <a:endParaRPr sz="1100"/>
          </a:p>
        </p:txBody>
      </p:sp>
      <p:pic>
        <p:nvPicPr>
          <p:cNvPr descr="reasons_deck.png" id="241" name="Google Shape;241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0073" y="1714500"/>
            <a:ext cx="3998422" cy="253746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38"/>
          <p:cNvSpPr/>
          <p:nvPr/>
        </p:nvSpPr>
        <p:spPr>
          <a:xfrm>
            <a:off x="4835019" y="1405889"/>
            <a:ext cx="3806291" cy="3291840"/>
          </a:xfrm>
          <a:prstGeom prst="roundRect">
            <a:avLst>
              <a:gd fmla="val 8000" name="adj"/>
            </a:avLst>
          </a:prstGeom>
          <a:solidFill>
            <a:srgbClr val="FBEAE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38"/>
          <p:cNvSpPr txBox="1"/>
          <p:nvPr/>
        </p:nvSpPr>
        <p:spPr>
          <a:xfrm>
            <a:off x="5075055" y="1611630"/>
            <a:ext cx="3360600" cy="20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300" u="none" cap="none" strike="noStrike">
                <a:solidFill>
                  <a:srgbClr val="D15115"/>
                </a:solidFill>
                <a:latin typeface="Georgia"/>
                <a:ea typeface="Georgia"/>
                <a:cs typeface="Georgia"/>
                <a:sym typeface="Georgia"/>
              </a:rPr>
              <a:t>Why they </a:t>
            </a:r>
            <a:r>
              <a:rPr b="1" lang="en-GB" sz="1300">
                <a:solidFill>
                  <a:srgbClr val="D15115"/>
                </a:solidFill>
                <a:latin typeface="Georgia"/>
                <a:ea typeface="Georgia"/>
                <a:cs typeface="Georgia"/>
                <a:sym typeface="Georgia"/>
              </a:rPr>
              <a:t>C</a:t>
            </a:r>
            <a:r>
              <a:rPr b="1" i="0" lang="en-GB" sz="1300" u="none" cap="none" strike="noStrike">
                <a:solidFill>
                  <a:srgbClr val="D15115"/>
                </a:solidFill>
                <a:latin typeface="Georgia"/>
                <a:ea typeface="Georgia"/>
                <a:cs typeface="Georgia"/>
                <a:sym typeface="Georgia"/>
              </a:rPr>
              <a:t>hurn</a:t>
            </a:r>
            <a:endParaRPr b="1" i="0" sz="1300" u="none" cap="none" strike="noStrike">
              <a:solidFill>
                <a:srgbClr val="D15115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D15115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i="0" lang="en-GB" sz="1000" u="none" cap="none" strike="noStrike">
                <a:solidFill>
                  <a:srgbClr val="D15115"/>
                </a:solidFill>
                <a:latin typeface="Georgia"/>
                <a:ea typeface="Georgia"/>
                <a:cs typeface="Georgia"/>
                <a:sym typeface="Georgia"/>
              </a:rPr>
              <a:t>•  </a:t>
            </a:r>
            <a:r>
              <a:rPr i="0" lang="en-GB" sz="1000" u="none" cap="none" strike="noStrike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Competitor offers - speed, data, devices (33%)</a:t>
            </a:r>
            <a:endParaRPr sz="11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i="0" lang="en-GB" sz="1000" u="none" cap="none" strike="noStrike">
                <a:solidFill>
                  <a:srgbClr val="D15115"/>
                </a:solidFill>
                <a:latin typeface="Georgia"/>
                <a:ea typeface="Georgia"/>
                <a:cs typeface="Georgia"/>
                <a:sym typeface="Georgia"/>
              </a:rPr>
              <a:t>•  </a:t>
            </a:r>
            <a:r>
              <a:rPr i="0" lang="en-GB" sz="1000" u="none" cap="none" strike="noStrike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Product dissatisfaction (23%)</a:t>
            </a:r>
            <a:endParaRPr sz="11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i="0" lang="en-GB" sz="1000" u="none" cap="none" strike="noStrike">
                <a:solidFill>
                  <a:srgbClr val="D15115"/>
                </a:solidFill>
                <a:latin typeface="Georgia"/>
                <a:ea typeface="Georgia"/>
                <a:cs typeface="Georgia"/>
                <a:sym typeface="Georgia"/>
              </a:rPr>
              <a:t>•  </a:t>
            </a:r>
            <a:r>
              <a:rPr i="0" lang="en-GB" sz="1000" u="none" cap="none" strike="noStrike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Support attitude &amp; expertise (20%)</a:t>
            </a:r>
            <a:endParaRPr sz="11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i="0" lang="en-GB" sz="1000" u="none" cap="none" strike="noStrike">
                <a:solidFill>
                  <a:srgbClr val="D15115"/>
                </a:solidFill>
                <a:latin typeface="Georgia"/>
                <a:ea typeface="Georgia"/>
                <a:cs typeface="Georgia"/>
                <a:sym typeface="Georgia"/>
              </a:rPr>
              <a:t>•  </a:t>
            </a:r>
            <a:r>
              <a:rPr i="0" lang="en-GB" sz="1000" u="none" cap="none" strike="noStrike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Price / data / speed - only 13%</a:t>
            </a:r>
            <a:endParaRPr sz="11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GB" sz="1000" u="none" cap="none" strike="noStrike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The top reasons are addressable: a better offer th</a:t>
            </a:r>
            <a:r>
              <a:rPr b="1" lang="en-GB" sz="1000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an our </a:t>
            </a:r>
            <a:r>
              <a:rPr b="1" lang="en-GB" sz="1000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competitors </a:t>
            </a:r>
            <a:r>
              <a:rPr b="1" i="0" lang="en-GB" sz="1000" u="none" cap="none" strike="noStrike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and better customer and product support</a:t>
            </a:r>
            <a:r>
              <a:rPr b="1" lang="en-GB" sz="1000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. The data suggests there is little dissatisfaction with the price.</a:t>
            </a:r>
            <a:endParaRPr sz="1100"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9"/>
          <p:cNvSpPr/>
          <p:nvPr/>
        </p:nvSpPr>
        <p:spPr>
          <a:xfrm>
            <a:off x="0" y="0"/>
            <a:ext cx="9144015" cy="5143500"/>
          </a:xfrm>
          <a:prstGeom prst="rect">
            <a:avLst/>
          </a:prstGeom>
          <a:solidFill>
            <a:srgbClr val="2C587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39"/>
          <p:cNvSpPr txBox="1"/>
          <p:nvPr/>
        </p:nvSpPr>
        <p:spPr>
          <a:xfrm>
            <a:off x="685818" y="1714500"/>
            <a:ext cx="7749747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400" u="none" cap="none" strike="noStrike">
                <a:solidFill>
                  <a:srgbClr val="DAC3B4"/>
                </a:solidFill>
                <a:latin typeface="Georgia"/>
                <a:ea typeface="Georgia"/>
                <a:cs typeface="Georgia"/>
                <a:sym typeface="Georgia"/>
              </a:rPr>
              <a:t>Question 3 of 5</a:t>
            </a:r>
            <a:endParaRPr sz="1100"/>
          </a:p>
        </p:txBody>
      </p:sp>
      <p:sp>
        <p:nvSpPr>
          <p:cNvPr id="250" name="Google Shape;250;p39"/>
          <p:cNvSpPr txBox="1"/>
          <p:nvPr/>
        </p:nvSpPr>
        <p:spPr>
          <a:xfrm>
            <a:off x="685818" y="2297430"/>
            <a:ext cx="7749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What </a:t>
            </a:r>
            <a:r>
              <a:rPr b="1" lang="en-GB" sz="2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</a:t>
            </a:r>
            <a:r>
              <a:rPr b="1" i="0" lang="en-GB" sz="2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akes Customers </a:t>
            </a:r>
            <a:r>
              <a:rPr b="1" lang="en-GB" sz="2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</a:t>
            </a:r>
            <a:r>
              <a:rPr b="1" i="0" lang="en-GB" sz="2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tay - and </a:t>
            </a:r>
            <a:r>
              <a:rPr b="1" lang="en-GB" sz="2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W</a:t>
            </a:r>
            <a:r>
              <a:rPr b="1" i="0" lang="en-GB" sz="2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hat Sign-up Factor </a:t>
            </a:r>
            <a:r>
              <a:rPr b="1" lang="en-GB" sz="2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</a:t>
            </a:r>
            <a:r>
              <a:rPr b="1" i="0" lang="en-GB" sz="2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hould we </a:t>
            </a:r>
            <a:r>
              <a:rPr b="1" lang="en-GB" sz="2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I</a:t>
            </a:r>
            <a:r>
              <a:rPr b="1" i="0" lang="en-GB" sz="2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ncentivise?</a:t>
            </a:r>
            <a:endParaRPr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0"/>
          <p:cNvSpPr txBox="1"/>
          <p:nvPr/>
        </p:nvSpPr>
        <p:spPr>
          <a:xfrm>
            <a:off x="480073" y="377190"/>
            <a:ext cx="8229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T</a:t>
            </a:r>
            <a:r>
              <a:rPr b="1" i="0" lang="en-GB" sz="1800" u="none" cap="none" strike="noStrike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erm contracts and </a:t>
            </a:r>
            <a:r>
              <a:rPr b="1" lang="en-GB" sz="1800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A</a:t>
            </a:r>
            <a:r>
              <a:rPr b="1" i="0" lang="en-GB" sz="1800" u="none" cap="none" strike="noStrike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dd-ons </a:t>
            </a:r>
            <a:r>
              <a:rPr b="1" lang="en-GB" sz="1800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Retain</a:t>
            </a:r>
            <a:r>
              <a:rPr b="1" i="0" lang="en-GB" sz="1800" u="none" cap="none" strike="noStrike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b="1" lang="en-GB" sz="1800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C</a:t>
            </a:r>
            <a:r>
              <a:rPr b="1" i="0" lang="en-GB" sz="1800" u="none" cap="none" strike="noStrike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ustomers</a:t>
            </a:r>
            <a:r>
              <a:rPr b="1" lang="en-GB" sz="1800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:</a:t>
            </a:r>
            <a:r>
              <a:rPr b="1" i="0" lang="en-GB" sz="1800" u="none" cap="none" strike="noStrike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b="1" lang="en-GB" sz="1800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Allocate the $2.50 Incentive to</a:t>
            </a:r>
            <a:r>
              <a:rPr b="1" i="0" lang="en-GB" sz="1800" u="none" cap="none" strike="noStrike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 Online Security Sign-ups</a:t>
            </a:r>
            <a:endParaRPr sz="1100"/>
          </a:p>
        </p:txBody>
      </p:sp>
      <p:pic>
        <p:nvPicPr>
          <p:cNvPr descr="retention_deck.png" id="256" name="Google Shape;25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0073" y="1714500"/>
            <a:ext cx="4023233" cy="253746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40"/>
          <p:cNvSpPr/>
          <p:nvPr/>
        </p:nvSpPr>
        <p:spPr>
          <a:xfrm>
            <a:off x="4835019" y="1405889"/>
            <a:ext cx="3806291" cy="3291840"/>
          </a:xfrm>
          <a:prstGeom prst="roundRect">
            <a:avLst>
              <a:gd fmla="val 8000" name="adj"/>
            </a:avLst>
          </a:prstGeom>
          <a:solidFill>
            <a:srgbClr val="FBEAE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40"/>
          <p:cNvSpPr txBox="1"/>
          <p:nvPr/>
        </p:nvSpPr>
        <p:spPr>
          <a:xfrm>
            <a:off x="5075055" y="1611630"/>
            <a:ext cx="3360600" cy="20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300" u="none" cap="none" strike="noStrike">
                <a:solidFill>
                  <a:srgbClr val="D15115"/>
                </a:solidFill>
                <a:latin typeface="Georgia"/>
                <a:ea typeface="Georgia"/>
                <a:cs typeface="Georgia"/>
                <a:sym typeface="Georgia"/>
              </a:rPr>
              <a:t>The $2.50 </a:t>
            </a:r>
            <a:r>
              <a:rPr b="1" lang="en-GB" sz="1300">
                <a:solidFill>
                  <a:srgbClr val="D15115"/>
                </a:solidFill>
                <a:latin typeface="Georgia"/>
                <a:ea typeface="Georgia"/>
                <a:cs typeface="Georgia"/>
                <a:sym typeface="Georgia"/>
              </a:rPr>
              <a:t>I</a:t>
            </a:r>
            <a:r>
              <a:rPr b="1" i="0" lang="en-GB" sz="1300" u="none" cap="none" strike="noStrike">
                <a:solidFill>
                  <a:srgbClr val="D15115"/>
                </a:solidFill>
                <a:latin typeface="Georgia"/>
                <a:ea typeface="Georgia"/>
                <a:cs typeface="Georgia"/>
                <a:sym typeface="Georgia"/>
              </a:rPr>
              <a:t>ncentive</a:t>
            </a:r>
            <a:endParaRPr b="1" i="0" sz="1300" u="none" cap="none" strike="noStrike">
              <a:solidFill>
                <a:srgbClr val="D15115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D15115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i="0" lang="en-GB" sz="1000" u="none" cap="none" strike="noStrike">
                <a:solidFill>
                  <a:srgbClr val="D15115"/>
                </a:solidFill>
                <a:latin typeface="Georgia"/>
                <a:ea typeface="Georgia"/>
                <a:cs typeface="Georgia"/>
                <a:sym typeface="Georgia"/>
              </a:rPr>
              <a:t>•  </a:t>
            </a:r>
            <a:r>
              <a:rPr i="0" lang="en-GB" sz="1000" u="none" cap="none" strike="noStrike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Online security cuts churn 42% </a:t>
            </a:r>
            <a:r>
              <a:rPr lang="en-GB" sz="1000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to</a:t>
            </a:r>
            <a:r>
              <a:rPr i="0" lang="en-GB" sz="1000" u="none" cap="none" strike="noStrike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 15% </a:t>
            </a:r>
            <a:endParaRPr sz="11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i="0" lang="en-GB" sz="1000" u="none" cap="none" strike="noStrike">
                <a:solidFill>
                  <a:srgbClr val="D15115"/>
                </a:solidFill>
                <a:latin typeface="Georgia"/>
                <a:ea typeface="Georgia"/>
                <a:cs typeface="Georgia"/>
                <a:sym typeface="Georgia"/>
              </a:rPr>
              <a:t>•  </a:t>
            </a:r>
            <a:r>
              <a:rPr i="0" lang="en-GB" sz="1000" u="none" cap="none" strike="noStrike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~3,500 internet customers lack it, churning at ~42%</a:t>
            </a:r>
            <a:endParaRPr sz="11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i="0" lang="en-GB" sz="1000" u="none" cap="none" strike="noStrike">
                <a:solidFill>
                  <a:srgbClr val="D15115"/>
                </a:solidFill>
                <a:latin typeface="Georgia"/>
                <a:ea typeface="Georgia"/>
                <a:cs typeface="Georgia"/>
                <a:sym typeface="Georgia"/>
              </a:rPr>
              <a:t>•  </a:t>
            </a:r>
            <a:r>
              <a:rPr lang="en-GB" sz="1000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Providing an Incentive to employees for Online Security sign-ups may also </a:t>
            </a:r>
            <a:r>
              <a:rPr lang="en-GB" sz="1000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improve</a:t>
            </a:r>
            <a:r>
              <a:rPr lang="en-GB" sz="1000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 employee morale (better support service)</a:t>
            </a:r>
            <a:endParaRPr sz="1000">
              <a:solidFill>
                <a:srgbClr val="21212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21212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GB" sz="1000" u="none" cap="none" strike="noStrike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Recommend incentivising Online Security sign-ups (Tech support a close second).</a:t>
            </a:r>
            <a:endParaRPr sz="1100"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1"/>
          <p:cNvSpPr txBox="1"/>
          <p:nvPr/>
        </p:nvSpPr>
        <p:spPr>
          <a:xfrm>
            <a:off x="480073" y="377190"/>
            <a:ext cx="8229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Features that</a:t>
            </a:r>
            <a:r>
              <a:rPr b="1" i="0" lang="en-GB" sz="2000" u="none" cap="none" strike="noStrike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b="1" lang="en-GB" sz="2000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M</a:t>
            </a:r>
            <a:r>
              <a:rPr b="1" i="0" lang="en-GB" sz="2000" u="none" cap="none" strike="noStrike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ost </a:t>
            </a:r>
            <a:r>
              <a:rPr b="1" lang="en-GB" sz="2000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I</a:t>
            </a:r>
            <a:r>
              <a:rPr b="1" i="0" lang="en-GB" sz="2000" u="none" cap="none" strike="noStrike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nfluence </a:t>
            </a:r>
            <a:r>
              <a:rPr b="1" lang="en-GB" sz="2000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C</a:t>
            </a:r>
            <a:r>
              <a:rPr b="1" i="0" lang="en-GB" sz="2000" u="none" cap="none" strike="noStrike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hurn: </a:t>
            </a:r>
            <a:r>
              <a:rPr b="1" lang="en-GB" sz="2000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C</a:t>
            </a:r>
            <a:r>
              <a:rPr b="1" i="0" lang="en-GB" sz="2000" u="none" cap="none" strike="noStrike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ontract type, </a:t>
            </a:r>
            <a:r>
              <a:rPr b="1" lang="en-GB" sz="2000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T</a:t>
            </a:r>
            <a:r>
              <a:rPr b="1" i="0" lang="en-GB" sz="2000" u="none" cap="none" strike="noStrike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enure, </a:t>
            </a:r>
            <a:r>
              <a:rPr b="1" lang="en-GB" sz="2000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C</a:t>
            </a:r>
            <a:r>
              <a:rPr b="1" i="0" lang="en-GB" sz="2000" u="none" cap="none" strike="noStrike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harges and </a:t>
            </a:r>
            <a:r>
              <a:rPr b="1" lang="en-GB" sz="2000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M</a:t>
            </a:r>
            <a:r>
              <a:rPr b="1" i="0" lang="en-GB" sz="2000" u="none" cap="none" strike="noStrike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issing </a:t>
            </a:r>
            <a:r>
              <a:rPr b="1" lang="en-GB" sz="2000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A</a:t>
            </a:r>
            <a:r>
              <a:rPr b="1" i="0" lang="en-GB" sz="2000" u="none" cap="none" strike="noStrike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dd-ons</a:t>
            </a:r>
            <a:endParaRPr sz="1100"/>
          </a:p>
        </p:txBody>
      </p:sp>
      <p:pic>
        <p:nvPicPr>
          <p:cNvPr descr="importance_deck.png" id="264" name="Google Shape;264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28909" y="1337310"/>
            <a:ext cx="4689067" cy="301752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41"/>
          <p:cNvSpPr txBox="1"/>
          <p:nvPr/>
        </p:nvSpPr>
        <p:spPr>
          <a:xfrm>
            <a:off x="822982" y="4491990"/>
            <a:ext cx="7475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900">
                <a:solidFill>
                  <a:srgbClr val="5F5E5A"/>
                </a:solidFill>
                <a:latin typeface="Georgia"/>
                <a:ea typeface="Georgia"/>
                <a:cs typeface="Georgia"/>
                <a:sym typeface="Georgia"/>
              </a:rPr>
              <a:t>Our predictive m</a:t>
            </a:r>
            <a:r>
              <a:rPr i="1" lang="en-GB" sz="900" u="none" cap="none" strike="noStrike">
                <a:solidFill>
                  <a:srgbClr val="5F5E5A"/>
                </a:solidFill>
                <a:latin typeface="Georgia"/>
                <a:ea typeface="Georgia"/>
                <a:cs typeface="Georgia"/>
                <a:sym typeface="Georgia"/>
              </a:rPr>
              <a:t>odel feature importances - the strongest churn drivers </a:t>
            </a:r>
            <a:r>
              <a:rPr i="1" lang="en-GB" sz="900">
                <a:solidFill>
                  <a:srgbClr val="5F5E5A"/>
                </a:solidFill>
                <a:latin typeface="Georgia"/>
                <a:ea typeface="Georgia"/>
                <a:cs typeface="Georgia"/>
                <a:sym typeface="Georgia"/>
              </a:rPr>
              <a:t>corroborate our</a:t>
            </a:r>
            <a:r>
              <a:rPr i="1" lang="en-GB" sz="900" u="none" cap="none" strike="noStrike">
                <a:solidFill>
                  <a:srgbClr val="5F5E5A"/>
                </a:solidFill>
                <a:latin typeface="Georgia"/>
                <a:ea typeface="Georgia"/>
                <a:cs typeface="Georgia"/>
                <a:sym typeface="Georgia"/>
              </a:rPr>
              <a:t> EDA: contract type, tenure, charges, and a lack of online security / tech support.</a:t>
            </a:r>
            <a:endParaRPr sz="1000"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2"/>
          <p:cNvSpPr/>
          <p:nvPr/>
        </p:nvSpPr>
        <p:spPr>
          <a:xfrm>
            <a:off x="0" y="0"/>
            <a:ext cx="9144015" cy="5143500"/>
          </a:xfrm>
          <a:prstGeom prst="rect">
            <a:avLst/>
          </a:prstGeom>
          <a:solidFill>
            <a:srgbClr val="2C587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42"/>
          <p:cNvSpPr txBox="1"/>
          <p:nvPr/>
        </p:nvSpPr>
        <p:spPr>
          <a:xfrm>
            <a:off x="685818" y="1714500"/>
            <a:ext cx="7749747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400" u="none" cap="none" strike="noStrike">
                <a:solidFill>
                  <a:srgbClr val="DAC3B4"/>
                </a:solidFill>
                <a:latin typeface="Georgia"/>
                <a:ea typeface="Georgia"/>
                <a:cs typeface="Georgia"/>
                <a:sym typeface="Georgia"/>
              </a:rPr>
              <a:t>Question 4 of 5</a:t>
            </a:r>
            <a:endParaRPr sz="1100"/>
          </a:p>
        </p:txBody>
      </p:sp>
      <p:sp>
        <p:nvSpPr>
          <p:cNvPr id="272" name="Google Shape;272;p42"/>
          <p:cNvSpPr txBox="1"/>
          <p:nvPr/>
        </p:nvSpPr>
        <p:spPr>
          <a:xfrm>
            <a:off x="685818" y="2297430"/>
            <a:ext cx="7749747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Which 500 customers should get the retention mailer?</a:t>
            </a:r>
            <a:endParaRPr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3"/>
          <p:cNvSpPr txBox="1"/>
          <p:nvPr/>
        </p:nvSpPr>
        <p:spPr>
          <a:xfrm>
            <a:off x="480073" y="377190"/>
            <a:ext cx="8229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900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Predictive Modelling: Building</a:t>
            </a:r>
            <a:r>
              <a:rPr b="1" i="0" lang="en-GB" sz="1900" u="none" cap="none" strike="noStrike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 a </a:t>
            </a:r>
            <a:r>
              <a:rPr b="1" lang="en-GB" sz="1900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V</a:t>
            </a:r>
            <a:r>
              <a:rPr b="1" i="0" lang="en-GB" sz="1900" u="none" cap="none" strike="noStrike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alidated Random Forest (test ROC-AUC 0.85)</a:t>
            </a:r>
            <a:endParaRPr sz="1100"/>
          </a:p>
        </p:txBody>
      </p:sp>
      <p:pic>
        <p:nvPicPr>
          <p:cNvPr descr="roc_deck.png" id="278" name="Google Shape;278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0073" y="1508760"/>
            <a:ext cx="3525336" cy="288036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43"/>
          <p:cNvSpPr txBox="1"/>
          <p:nvPr/>
        </p:nvSpPr>
        <p:spPr>
          <a:xfrm>
            <a:off x="4114910" y="1474470"/>
            <a:ext cx="4526400" cy="19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300" u="none" cap="none" strike="noStrike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How it was </a:t>
            </a:r>
            <a:r>
              <a:rPr b="1" lang="en-GB" sz="1300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B</a:t>
            </a:r>
            <a:r>
              <a:rPr b="1" i="0" lang="en-GB" sz="1300" u="none" cap="none" strike="noStrike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uilt</a:t>
            </a:r>
            <a:endParaRPr b="1" i="0" sz="1300" u="none" cap="none" strike="noStrike">
              <a:solidFill>
                <a:srgbClr val="2C587E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2C587E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i="0" lang="en-GB" sz="1000" u="none" cap="none" strike="noStrike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•  </a:t>
            </a:r>
            <a:r>
              <a:rPr i="0" lang="en-GB" sz="1000" u="none" cap="none" strike="noStrike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Stratified 80/20 train-test split (seeded, no leakage)</a:t>
            </a:r>
            <a:endParaRPr sz="11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i="0" lang="en-GB" sz="1000" u="none" cap="none" strike="noStrike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•  </a:t>
            </a:r>
            <a:r>
              <a:rPr i="0" lang="en-GB" sz="1000" u="none" cap="none" strike="noStrike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5-fold cross-validated model comparison:</a:t>
            </a:r>
            <a:endParaRPr sz="11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i="0" lang="en-GB" sz="1000" u="none" cap="none" strike="noStrike">
                <a:solidFill>
                  <a:srgbClr val="5F5E5A"/>
                </a:solidFill>
                <a:latin typeface="Georgia"/>
                <a:ea typeface="Georgia"/>
                <a:cs typeface="Georgia"/>
                <a:sym typeface="Georgia"/>
              </a:rPr>
              <a:t>        - </a:t>
            </a:r>
            <a:r>
              <a:rPr i="0" lang="en-GB" sz="1000" u="none" cap="none" strike="noStrike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Logistic Regression - CV ROC-AUC 0.859</a:t>
            </a:r>
            <a:endParaRPr sz="11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i="0" lang="en-GB" sz="1000" u="none" cap="none" strike="noStrike">
                <a:solidFill>
                  <a:srgbClr val="5F5E5A"/>
                </a:solidFill>
                <a:latin typeface="Georgia"/>
                <a:ea typeface="Georgia"/>
                <a:cs typeface="Georgia"/>
                <a:sym typeface="Georgia"/>
              </a:rPr>
              <a:t>        - </a:t>
            </a:r>
            <a:r>
              <a:rPr i="0" lang="en-GB" sz="1000" u="none" cap="none" strike="noStrike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Random Forest (tuned) - CV ROC-AUC 0.861</a:t>
            </a:r>
            <a:endParaRPr sz="11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i="0" lang="en-GB" sz="1000" u="none" cap="none" strike="noStrike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•  </a:t>
            </a:r>
            <a:r>
              <a:rPr i="0" lang="en-GB" sz="1000" u="none" cap="none" strike="noStrike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Preprocessing (one-hot encoding + scaling) </a:t>
            </a:r>
            <a:r>
              <a:rPr lang="en-GB" sz="1000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to </a:t>
            </a:r>
            <a:r>
              <a:rPr i="0" lang="en-GB" sz="1000" u="none" cap="none" strike="noStrike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fit inside the Pipeline</a:t>
            </a:r>
            <a:endParaRPr sz="11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i="0" lang="en-GB" sz="1000" u="none" cap="none" strike="noStrike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•  </a:t>
            </a:r>
            <a:r>
              <a:rPr i="0" lang="en-GB" sz="1000" u="none" cap="none" strike="noStrike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Tuned with GridSearchCV on ROC-AUC</a:t>
            </a:r>
            <a:endParaRPr sz="11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i="0" lang="en-GB" sz="1000" u="none" cap="none" strike="noStrike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•  </a:t>
            </a:r>
            <a:r>
              <a:rPr i="0" lang="en-GB" sz="1000" u="none" cap="none" strike="noStrike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Held-out test: ROC-AUC 0.853, churn recall 77% (vs 73.5% baseline)</a:t>
            </a:r>
            <a:endParaRPr sz="1100"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4"/>
          <p:cNvSpPr txBox="1"/>
          <p:nvPr/>
        </p:nvSpPr>
        <p:spPr>
          <a:xfrm>
            <a:off x="480073" y="377190"/>
            <a:ext cx="8229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The 500 </a:t>
            </a:r>
            <a:r>
              <a:rPr b="1" lang="en-GB" sz="2000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H</a:t>
            </a:r>
            <a:r>
              <a:rPr b="1" i="0" lang="en-GB" sz="2000" u="none" cap="none" strike="noStrike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ighest-risk </a:t>
            </a:r>
            <a:r>
              <a:rPr b="1" lang="en-GB" sz="2000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A</a:t>
            </a:r>
            <a:r>
              <a:rPr b="1" i="0" lang="en-GB" sz="2000" u="none" cap="none" strike="noStrike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ctive </a:t>
            </a:r>
            <a:r>
              <a:rPr b="1" lang="en-GB" sz="2000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C</a:t>
            </a:r>
            <a:r>
              <a:rPr b="1" i="0" lang="en-GB" sz="2000" u="none" cap="none" strike="noStrike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ustomers - </a:t>
            </a:r>
            <a:r>
              <a:rPr b="1" lang="en-GB" sz="2000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R</a:t>
            </a:r>
            <a:r>
              <a:rPr b="1" i="0" lang="en-GB" sz="2000" u="none" cap="none" strike="noStrike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eady to </a:t>
            </a:r>
            <a:r>
              <a:rPr b="1" lang="en-GB" sz="2000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M</a:t>
            </a:r>
            <a:r>
              <a:rPr b="1" i="0" lang="en-GB" sz="2000" u="none" cap="none" strike="noStrike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ail</a:t>
            </a:r>
            <a:endParaRPr sz="1100"/>
          </a:p>
        </p:txBody>
      </p:sp>
      <p:sp>
        <p:nvSpPr>
          <p:cNvPr id="285" name="Google Shape;285;p44"/>
          <p:cNvSpPr/>
          <p:nvPr/>
        </p:nvSpPr>
        <p:spPr>
          <a:xfrm>
            <a:off x="480073" y="1371600"/>
            <a:ext cx="3772001" cy="3223260"/>
          </a:xfrm>
          <a:prstGeom prst="roundRect">
            <a:avLst>
              <a:gd fmla="val 8000" name="adj"/>
            </a:avLst>
          </a:prstGeom>
          <a:solidFill>
            <a:srgbClr val="EAF0F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44"/>
          <p:cNvSpPr txBox="1"/>
          <p:nvPr/>
        </p:nvSpPr>
        <p:spPr>
          <a:xfrm>
            <a:off x="720109" y="1577340"/>
            <a:ext cx="3326100" cy="25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400" u="none" cap="none" strike="noStrike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Top-500 </a:t>
            </a:r>
            <a:r>
              <a:rPr b="1" lang="en-GB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M</a:t>
            </a:r>
            <a:r>
              <a:rPr b="1" i="0" lang="en-GB" sz="1400" u="none" cap="none" strike="noStrike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ailer </a:t>
            </a:r>
            <a:r>
              <a:rPr b="1" lang="en-GB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L</a:t>
            </a:r>
            <a:r>
              <a:rPr b="1" i="0" lang="en-GB" sz="1400" u="none" cap="none" strike="noStrike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ist</a:t>
            </a:r>
            <a:endParaRPr sz="1100"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i="1" lang="en-GB" sz="900" u="none" cap="none" strike="noStrike">
                <a:solidFill>
                  <a:srgbClr val="A47147"/>
                </a:solidFill>
                <a:latin typeface="Georgia"/>
                <a:ea typeface="Georgia"/>
                <a:cs typeface="Georgia"/>
                <a:sym typeface="Georgia"/>
              </a:rPr>
              <a:t>for the marketing team</a:t>
            </a:r>
            <a:endParaRPr i="1" sz="900" u="none" cap="none" strike="noStrike">
              <a:solidFill>
                <a:srgbClr val="A47147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i="1" sz="900">
              <a:solidFill>
                <a:srgbClr val="A47147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i="0" lang="en-GB" sz="1000" u="none" cap="none" strike="noStrike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•  </a:t>
            </a:r>
            <a:r>
              <a:rPr i="0" lang="en-GB" sz="1000" u="none" cap="none" strike="noStrike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500 highest-risk active customers, ranked by churn probability</a:t>
            </a:r>
            <a:endParaRPr sz="11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i="0" lang="en-GB" sz="1000" u="none" cap="none" strike="noStrike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•  </a:t>
            </a:r>
            <a:r>
              <a:rPr i="0" lang="en-GB" sz="1000" u="none" cap="none" strike="noStrike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Mean churn risk in the list: 75%</a:t>
            </a:r>
            <a:endParaRPr sz="11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i="0" lang="en-GB" sz="1000" u="none" cap="none" strike="noStrike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•  </a:t>
            </a:r>
            <a:r>
              <a:rPr i="0" lang="en-GB" sz="1000" u="none" cap="none" strike="noStrike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~100 retained at the expected 20% uptake</a:t>
            </a:r>
            <a:endParaRPr sz="11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i="0" lang="en-GB" sz="1000" u="none" cap="none" strike="noStrike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•  </a:t>
            </a:r>
            <a:r>
              <a:rPr lang="en-GB" sz="1000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The Top-500 have an average charge of $76.41 per month; over 12 months </a:t>
            </a:r>
            <a:r>
              <a:rPr lang="en-GB" sz="6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✕</a:t>
            </a:r>
            <a:r>
              <a:rPr lang="en-GB" sz="1000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 100 customers retained = </a:t>
            </a:r>
            <a:r>
              <a:rPr b="1" lang="en-GB" sz="1000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$91,697 in protected revenue</a:t>
            </a:r>
            <a:r>
              <a:rPr lang="en-GB" sz="1000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 (illustrative - assumes a full year retained).</a:t>
            </a:r>
            <a:endParaRPr sz="1000">
              <a:solidFill>
                <a:srgbClr val="21212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21212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-GB" sz="800" u="none" cap="none" strike="noStrike">
                <a:solidFill>
                  <a:srgbClr val="5F5E5A"/>
                </a:solidFill>
                <a:latin typeface="Georgia"/>
                <a:ea typeface="Georgia"/>
                <a:cs typeface="Georgia"/>
                <a:sym typeface="Georgia"/>
              </a:rPr>
              <a:t>File: top_500_at_risk.csv</a:t>
            </a:r>
            <a:endParaRPr sz="11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87" name="Google Shape;287;p44"/>
          <p:cNvSpPr txBox="1"/>
          <p:nvPr/>
        </p:nvSpPr>
        <p:spPr>
          <a:xfrm>
            <a:off x="4457819" y="1405889"/>
            <a:ext cx="41835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000" u="none" cap="none" strike="noStrike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Top of the </a:t>
            </a:r>
            <a:r>
              <a:rPr b="1" lang="en-GB" sz="1000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L</a:t>
            </a:r>
            <a:r>
              <a:rPr b="1" i="0" lang="en-GB" sz="1000" u="none" cap="none" strike="noStrike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ist</a:t>
            </a:r>
            <a:endParaRPr sz="1100"/>
          </a:p>
        </p:txBody>
      </p:sp>
      <p:graphicFrame>
        <p:nvGraphicFramePr>
          <p:cNvPr id="288" name="Google Shape;288;p44"/>
          <p:cNvGraphicFramePr/>
          <p:nvPr/>
        </p:nvGraphicFramePr>
        <p:xfrm>
          <a:off x="4457819" y="174879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{56DD356D-7530-47AD-A647-A0787A634382}</a:tableStyleId>
              </a:tblPr>
              <a:tblGrid>
                <a:gridCol w="754400"/>
                <a:gridCol w="1645950"/>
                <a:gridCol w="685800"/>
                <a:gridCol w="1097300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>
                          <a:solidFill>
                            <a:srgbClr val="FFFFFF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Rank</a:t>
                      </a:r>
                      <a:endParaRPr sz="1100"/>
                    </a:p>
                  </a:txBody>
                  <a:tcPr marT="13725" marB="13725" marR="48000" marL="61725" anchor="ctr">
                    <a:solidFill>
                      <a:srgbClr val="2C58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>
                          <a:solidFill>
                            <a:srgbClr val="FFFFFF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Customer ID</a:t>
                      </a:r>
                      <a:endParaRPr sz="1100"/>
                    </a:p>
                  </a:txBody>
                  <a:tcPr marT="13725" marB="13725" marR="48000" marL="61725" anchor="ctr">
                    <a:solidFill>
                      <a:srgbClr val="2C58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>
                          <a:solidFill>
                            <a:srgbClr val="FFFFFF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Risk</a:t>
                      </a:r>
                      <a:endParaRPr sz="1100"/>
                    </a:p>
                  </a:txBody>
                  <a:tcPr marT="13725" marB="13725" marR="48000" marL="61725" anchor="ctr">
                    <a:solidFill>
                      <a:srgbClr val="2C58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>
                          <a:solidFill>
                            <a:srgbClr val="FFFFFF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Contract</a:t>
                      </a:r>
                      <a:endParaRPr sz="1100"/>
                    </a:p>
                  </a:txBody>
                  <a:tcPr marT="13725" marB="13725" marR="48000" marL="61725" anchor="ctr">
                    <a:solidFill>
                      <a:srgbClr val="2C587E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>
                          <a:solidFill>
                            <a:srgbClr val="2C587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13725" marB="13725" marR="48000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2545-EBUPK</a:t>
                      </a:r>
                      <a:endParaRPr sz="1100"/>
                    </a:p>
                  </a:txBody>
                  <a:tcPr marT="13725" marB="13725" marR="48000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96</a:t>
                      </a:r>
                      <a:endParaRPr sz="1100"/>
                    </a:p>
                  </a:txBody>
                  <a:tcPr marT="13725" marB="13725" marR="48000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Month-to-month</a:t>
                      </a:r>
                      <a:endParaRPr sz="1100"/>
                    </a:p>
                  </a:txBody>
                  <a:tcPr marT="13725" marB="13725" marR="48000" marL="61725" anchor="ctr"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>
                          <a:solidFill>
                            <a:srgbClr val="2C587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/>
                    </a:p>
                  </a:txBody>
                  <a:tcPr marT="13725" marB="13725" marR="48000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5542-TBBWB</a:t>
                      </a:r>
                      <a:endParaRPr sz="1100"/>
                    </a:p>
                  </a:txBody>
                  <a:tcPr marT="13725" marB="13725" marR="48000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96</a:t>
                      </a:r>
                      <a:endParaRPr sz="1100"/>
                    </a:p>
                  </a:txBody>
                  <a:tcPr marT="13725" marB="13725" marR="48000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Month-to-month</a:t>
                      </a:r>
                      <a:endParaRPr sz="1100"/>
                    </a:p>
                  </a:txBody>
                  <a:tcPr marT="13725" marB="13725" marR="48000" marL="61725" anchor="ctr"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>
                          <a:solidFill>
                            <a:srgbClr val="2C587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100"/>
                    </a:p>
                  </a:txBody>
                  <a:tcPr marT="13725" marB="13725" marR="48000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8161-QYMTT</a:t>
                      </a:r>
                      <a:endParaRPr sz="1100"/>
                    </a:p>
                  </a:txBody>
                  <a:tcPr marT="13725" marB="13725" marR="48000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95</a:t>
                      </a:r>
                      <a:endParaRPr sz="1100"/>
                    </a:p>
                  </a:txBody>
                  <a:tcPr marT="13725" marB="13725" marR="48000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Month-to-month</a:t>
                      </a:r>
                      <a:endParaRPr sz="1100"/>
                    </a:p>
                  </a:txBody>
                  <a:tcPr marT="13725" marB="13725" marR="48000" marL="61725" anchor="ctr"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>
                          <a:solidFill>
                            <a:srgbClr val="2C587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100"/>
                    </a:p>
                  </a:txBody>
                  <a:tcPr marT="13725" marB="13725" marR="48000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4927-WWOOZ</a:t>
                      </a:r>
                      <a:endParaRPr sz="1100"/>
                    </a:p>
                  </a:txBody>
                  <a:tcPr marT="13725" marB="13725" marR="48000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94</a:t>
                      </a:r>
                      <a:endParaRPr sz="1100"/>
                    </a:p>
                  </a:txBody>
                  <a:tcPr marT="13725" marB="13725" marR="48000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Month-to-month</a:t>
                      </a:r>
                      <a:endParaRPr sz="1100"/>
                    </a:p>
                  </a:txBody>
                  <a:tcPr marT="13725" marB="13725" marR="48000" marL="61725" anchor="ctr"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>
                          <a:solidFill>
                            <a:srgbClr val="2C587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100"/>
                    </a:p>
                  </a:txBody>
                  <a:tcPr marT="13725" marB="13725" marR="48000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1452-VOQCH</a:t>
                      </a:r>
                      <a:endParaRPr sz="1100"/>
                    </a:p>
                  </a:txBody>
                  <a:tcPr marT="13725" marB="13725" marR="48000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93</a:t>
                      </a:r>
                      <a:endParaRPr sz="1100"/>
                    </a:p>
                  </a:txBody>
                  <a:tcPr marT="13725" marB="13725" marR="48000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Month-to-month</a:t>
                      </a:r>
                      <a:endParaRPr sz="1100"/>
                    </a:p>
                  </a:txBody>
                  <a:tcPr marT="13725" marB="13725" marR="48000" marL="617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5"/>
          <p:cNvSpPr/>
          <p:nvPr/>
        </p:nvSpPr>
        <p:spPr>
          <a:xfrm>
            <a:off x="0" y="0"/>
            <a:ext cx="9144015" cy="5143500"/>
          </a:xfrm>
          <a:prstGeom prst="rect">
            <a:avLst/>
          </a:prstGeom>
          <a:solidFill>
            <a:srgbClr val="2C587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45"/>
          <p:cNvSpPr txBox="1"/>
          <p:nvPr/>
        </p:nvSpPr>
        <p:spPr>
          <a:xfrm>
            <a:off x="685818" y="1714500"/>
            <a:ext cx="7749747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400" u="none" cap="none" strike="noStrike">
                <a:solidFill>
                  <a:srgbClr val="DAC3B4"/>
                </a:solidFill>
                <a:latin typeface="Georgia"/>
                <a:ea typeface="Georgia"/>
                <a:cs typeface="Georgia"/>
                <a:sym typeface="Georgia"/>
              </a:rPr>
              <a:t>Question 5 of 5</a:t>
            </a:r>
            <a:endParaRPr sz="1100"/>
          </a:p>
        </p:txBody>
      </p:sp>
      <p:sp>
        <p:nvSpPr>
          <p:cNvPr id="295" name="Google Shape;295;p45"/>
          <p:cNvSpPr txBox="1"/>
          <p:nvPr/>
        </p:nvSpPr>
        <p:spPr>
          <a:xfrm>
            <a:off x="685818" y="2297430"/>
            <a:ext cx="7749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What is the </a:t>
            </a:r>
            <a:r>
              <a:rPr b="1" lang="en-GB" sz="2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</a:t>
            </a:r>
            <a:r>
              <a:rPr b="1" i="0" lang="en-GB" sz="2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hurn </a:t>
            </a:r>
            <a:r>
              <a:rPr b="1" lang="en-GB" sz="2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R</a:t>
            </a:r>
            <a:r>
              <a:rPr b="1" i="0" lang="en-GB" sz="2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isk of our </a:t>
            </a:r>
            <a:r>
              <a:rPr b="1" lang="en-GB" sz="2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R</a:t>
            </a:r>
            <a:r>
              <a:rPr b="1" i="0" lang="en-GB" sz="2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emaining </a:t>
            </a:r>
            <a:r>
              <a:rPr b="1" lang="en-GB" sz="2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</a:t>
            </a:r>
            <a:r>
              <a:rPr b="1" i="0" lang="en-GB" sz="2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ustomers?</a:t>
            </a:r>
            <a:endParaRPr sz="11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6"/>
          <p:cNvSpPr txBox="1"/>
          <p:nvPr/>
        </p:nvSpPr>
        <p:spPr>
          <a:xfrm>
            <a:off x="480073" y="377190"/>
            <a:ext cx="8229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A 0-100 </a:t>
            </a:r>
            <a:r>
              <a:rPr b="1" lang="en-GB" sz="2000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R</a:t>
            </a:r>
            <a:r>
              <a:rPr b="1" i="0" lang="en-GB" sz="2000" u="none" cap="none" strike="noStrike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isk </a:t>
            </a:r>
            <a:r>
              <a:rPr b="1" lang="en-GB" sz="2000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S</a:t>
            </a:r>
            <a:r>
              <a:rPr b="1" i="0" lang="en-GB" sz="2000" u="none" cap="none" strike="noStrike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core and </a:t>
            </a:r>
            <a:r>
              <a:rPr b="1" lang="en-GB" sz="2000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B</a:t>
            </a:r>
            <a:r>
              <a:rPr b="1" i="0" lang="en-GB" sz="2000" u="none" cap="none" strike="noStrike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and for </a:t>
            </a:r>
            <a:r>
              <a:rPr b="1" lang="en-GB" sz="2000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E</a:t>
            </a:r>
            <a:r>
              <a:rPr b="1" i="0" lang="en-GB" sz="2000" u="none" cap="none" strike="noStrike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very </a:t>
            </a:r>
            <a:r>
              <a:rPr b="1" lang="en-GB" sz="2000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R</a:t>
            </a:r>
            <a:r>
              <a:rPr b="1" i="0" lang="en-GB" sz="2000" u="none" cap="none" strike="noStrike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emaining </a:t>
            </a:r>
            <a:r>
              <a:rPr b="1" lang="en-GB" sz="2000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C</a:t>
            </a:r>
            <a:r>
              <a:rPr b="1" i="0" lang="en-GB" sz="2000" u="none" cap="none" strike="noStrike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ustomer</a:t>
            </a:r>
            <a:endParaRPr sz="1100"/>
          </a:p>
        </p:txBody>
      </p:sp>
      <p:pic>
        <p:nvPicPr>
          <p:cNvPr descr="risk_bands.png" id="301" name="Google Shape;301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0073" y="1577340"/>
            <a:ext cx="4107319" cy="246888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46"/>
          <p:cNvSpPr/>
          <p:nvPr/>
        </p:nvSpPr>
        <p:spPr>
          <a:xfrm>
            <a:off x="4835019" y="1405889"/>
            <a:ext cx="3806291" cy="3257550"/>
          </a:xfrm>
          <a:prstGeom prst="roundRect">
            <a:avLst>
              <a:gd fmla="val 8000" name="adj"/>
            </a:avLst>
          </a:prstGeom>
          <a:solidFill>
            <a:srgbClr val="FBEAE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46"/>
          <p:cNvSpPr txBox="1"/>
          <p:nvPr/>
        </p:nvSpPr>
        <p:spPr>
          <a:xfrm>
            <a:off x="5075055" y="1611630"/>
            <a:ext cx="3360600" cy="17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400" u="none" cap="none" strike="noStrike">
                <a:solidFill>
                  <a:srgbClr val="D15115"/>
                </a:solidFill>
                <a:latin typeface="Georgia"/>
                <a:ea typeface="Georgia"/>
                <a:cs typeface="Georgia"/>
                <a:sym typeface="Georgia"/>
              </a:rPr>
              <a:t>Churn </a:t>
            </a:r>
            <a:r>
              <a:rPr b="1" lang="en-GB">
                <a:solidFill>
                  <a:srgbClr val="D15115"/>
                </a:solidFill>
                <a:latin typeface="Georgia"/>
                <a:ea typeface="Georgia"/>
                <a:cs typeface="Georgia"/>
                <a:sym typeface="Georgia"/>
              </a:rPr>
              <a:t>R</a:t>
            </a:r>
            <a:r>
              <a:rPr b="1" i="0" lang="en-GB" sz="1400" u="none" cap="none" strike="noStrike">
                <a:solidFill>
                  <a:srgbClr val="D15115"/>
                </a:solidFill>
                <a:latin typeface="Georgia"/>
                <a:ea typeface="Georgia"/>
                <a:cs typeface="Georgia"/>
                <a:sym typeface="Georgia"/>
              </a:rPr>
              <a:t>isk </a:t>
            </a:r>
            <a:r>
              <a:rPr b="1" lang="en-GB">
                <a:solidFill>
                  <a:srgbClr val="D15115"/>
                </a:solidFill>
                <a:latin typeface="Georgia"/>
                <a:ea typeface="Georgia"/>
                <a:cs typeface="Georgia"/>
                <a:sym typeface="Georgia"/>
              </a:rPr>
              <a:t>S</a:t>
            </a:r>
            <a:r>
              <a:rPr b="1" i="0" lang="en-GB" sz="1400" u="none" cap="none" strike="noStrike">
                <a:solidFill>
                  <a:srgbClr val="D15115"/>
                </a:solidFill>
                <a:latin typeface="Georgia"/>
                <a:ea typeface="Georgia"/>
                <a:cs typeface="Georgia"/>
                <a:sym typeface="Georgia"/>
              </a:rPr>
              <a:t>cores</a:t>
            </a:r>
            <a:endParaRPr sz="1100"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1" lang="en-GB" sz="900" u="none" cap="none" strike="noStrike">
                <a:solidFill>
                  <a:srgbClr val="A47147"/>
                </a:solidFill>
                <a:latin typeface="Calibri"/>
                <a:ea typeface="Calibri"/>
                <a:cs typeface="Calibri"/>
                <a:sym typeface="Calibri"/>
              </a:rPr>
              <a:t>for the customer-service team</a:t>
            </a:r>
            <a:endParaRPr b="0" i="1" sz="900" u="none" cap="none" strike="noStrike">
              <a:solidFill>
                <a:srgbClr val="A4714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i="1" sz="900">
              <a:solidFill>
                <a:srgbClr val="A4714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i="0" lang="en-GB" sz="1000" u="none" cap="none" strike="noStrike">
                <a:solidFill>
                  <a:srgbClr val="D15115"/>
                </a:solidFill>
                <a:latin typeface="Georgia"/>
                <a:ea typeface="Georgia"/>
                <a:cs typeface="Georgia"/>
                <a:sym typeface="Georgia"/>
              </a:rPr>
              <a:t>•  </a:t>
            </a:r>
            <a:r>
              <a:rPr i="0" lang="en-GB" sz="1000" u="none" cap="none" strike="noStrike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All 5,174 active customers scored by the same model</a:t>
            </a:r>
            <a:endParaRPr sz="11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i="0" lang="en-GB" sz="1000" u="none" cap="none" strike="noStrike">
                <a:solidFill>
                  <a:srgbClr val="D15115"/>
                </a:solidFill>
                <a:latin typeface="Georgia"/>
                <a:ea typeface="Georgia"/>
                <a:cs typeface="Georgia"/>
                <a:sym typeface="Georgia"/>
              </a:rPr>
              <a:t>•  </a:t>
            </a:r>
            <a:r>
              <a:rPr i="0" lang="en-GB" sz="10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Each given a</a:t>
            </a:r>
            <a:r>
              <a:rPr i="0" lang="en-GB" sz="1000" u="none" cap="none" strike="noStrike">
                <a:solidFill>
                  <a:srgbClr val="D15115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i="0" lang="en-GB" sz="1000" u="none" cap="none" strike="noStrike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0-100 risk score </a:t>
            </a:r>
            <a:r>
              <a:rPr lang="en-GB" sz="1000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&amp;</a:t>
            </a:r>
            <a:r>
              <a:rPr i="0" lang="en-GB" sz="1000" u="none" cap="none" strike="noStrike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 Low/Medium/High band</a:t>
            </a:r>
            <a:endParaRPr sz="11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i="0" lang="en-GB" sz="1000" u="none" cap="none" strike="noStrike">
                <a:solidFill>
                  <a:srgbClr val="D15115"/>
                </a:solidFill>
                <a:latin typeface="Georgia"/>
                <a:ea typeface="Georgia"/>
                <a:cs typeface="Georgia"/>
                <a:sym typeface="Georgia"/>
              </a:rPr>
              <a:t>•  </a:t>
            </a:r>
            <a:r>
              <a:rPr i="0" lang="en-GB" sz="1000" u="none" cap="none" strike="noStrike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651 High </a:t>
            </a:r>
            <a:r>
              <a:rPr lang="en-GB" sz="1000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| </a:t>
            </a:r>
            <a:r>
              <a:rPr i="0" lang="en-GB" sz="1000" u="none" cap="none" strike="noStrike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1,254 Medium </a:t>
            </a:r>
            <a:r>
              <a:rPr lang="en-GB" sz="1000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| </a:t>
            </a:r>
            <a:r>
              <a:rPr i="0" lang="en-GB" sz="1000" u="none" cap="none" strike="noStrike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3,269 Low</a:t>
            </a:r>
            <a:endParaRPr sz="11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i="0" lang="en-GB" sz="1000" u="none" cap="none" strike="noStrike">
                <a:solidFill>
                  <a:srgbClr val="D15115"/>
                </a:solidFill>
                <a:latin typeface="Georgia"/>
                <a:ea typeface="Georgia"/>
                <a:cs typeface="Georgia"/>
                <a:sym typeface="Georgia"/>
              </a:rPr>
              <a:t>•  </a:t>
            </a:r>
            <a:r>
              <a:rPr i="0" lang="en-GB" sz="1000" u="none" cap="none" strike="noStrike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Shown on-screen during live calls to prioritise retention</a:t>
            </a:r>
            <a:endParaRPr sz="11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-GB" sz="800" u="none" cap="none" strike="noStrike">
                <a:solidFill>
                  <a:srgbClr val="5F5E5A"/>
                </a:solidFill>
                <a:latin typeface="Georgia"/>
                <a:ea typeface="Georgia"/>
                <a:cs typeface="Georgia"/>
                <a:sym typeface="Georgia"/>
              </a:rPr>
              <a:t>File: churn_risk_scores.csv</a:t>
            </a:r>
            <a:endParaRPr sz="1100"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7"/>
          <p:cNvSpPr txBox="1"/>
          <p:nvPr/>
        </p:nvSpPr>
        <p:spPr>
          <a:xfrm>
            <a:off x="480073" y="377190"/>
            <a:ext cx="8229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Summary and </a:t>
            </a:r>
            <a:r>
              <a:rPr b="1" lang="en-GB" sz="2000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R</a:t>
            </a:r>
            <a:r>
              <a:rPr b="1" i="0" lang="en-GB" sz="2000" u="none" cap="none" strike="noStrike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ecommended </a:t>
            </a:r>
            <a:r>
              <a:rPr b="1" lang="en-GB" sz="2000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A</a:t>
            </a:r>
            <a:r>
              <a:rPr b="1" i="0" lang="en-GB" sz="2000" u="none" cap="none" strike="noStrike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ctions</a:t>
            </a:r>
            <a:endParaRPr sz="1100"/>
          </a:p>
        </p:txBody>
      </p:sp>
      <p:sp>
        <p:nvSpPr>
          <p:cNvPr id="309" name="Google Shape;309;p47"/>
          <p:cNvSpPr txBox="1"/>
          <p:nvPr/>
        </p:nvSpPr>
        <p:spPr>
          <a:xfrm>
            <a:off x="480073" y="1371600"/>
            <a:ext cx="4046400" cy="26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300" u="none" cap="none" strike="noStrike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Key </a:t>
            </a:r>
            <a:r>
              <a:rPr b="1" lang="en-GB" sz="1300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F</a:t>
            </a:r>
            <a:r>
              <a:rPr b="1" i="0" lang="en-GB" sz="1300" u="none" cap="none" strike="noStrike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indings</a:t>
            </a:r>
            <a:endParaRPr b="1" i="0" sz="1300" u="none" cap="none" strike="noStrike">
              <a:solidFill>
                <a:srgbClr val="2C587E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2C587E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i="0" lang="en-GB" sz="1000" u="none" cap="none" strike="noStrike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•</a:t>
            </a:r>
            <a:r>
              <a:rPr i="0" lang="en-GB" sz="1100" u="none" cap="none" strike="noStrike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  </a:t>
            </a:r>
            <a:r>
              <a:rPr i="0" lang="en-GB" sz="1100" u="none" cap="none" strike="noStrike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~27% churn rat</a:t>
            </a:r>
            <a:r>
              <a:rPr lang="en-GB" sz="1100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e</a:t>
            </a:r>
            <a:r>
              <a:rPr i="0" lang="en-GB" sz="1100" u="none" cap="none" strike="noStrike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, front-loaded and concentrated in month-to-month fibre customers</a:t>
            </a:r>
            <a:endParaRPr i="0" sz="1100" u="none" cap="none" strike="noStrike">
              <a:solidFill>
                <a:srgbClr val="21212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21212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i="0" lang="en-GB" sz="1100" u="none" cap="none" strike="noStrike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•  </a:t>
            </a:r>
            <a:r>
              <a:rPr i="0" lang="en-GB" sz="1100" u="none" cap="none" strike="noStrike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The</a:t>
            </a:r>
            <a:r>
              <a:rPr lang="en-GB" sz="1100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se customers</a:t>
            </a:r>
            <a:r>
              <a:rPr i="0" lang="en-GB" sz="1100" u="none" cap="none" strike="noStrike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 leave for better competitor offers and poor support experience, not raw price</a:t>
            </a:r>
            <a:endParaRPr i="0" sz="1100" u="none" cap="none" strike="noStrike">
              <a:solidFill>
                <a:srgbClr val="21212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21212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i="0" lang="en-GB" sz="1100" u="none" cap="none" strike="noStrike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•  </a:t>
            </a:r>
            <a:r>
              <a:rPr i="0" lang="en-GB" sz="1100" u="none" cap="none" strike="noStrike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Term contracts and add-ons are the strongest retention levers</a:t>
            </a:r>
            <a:endParaRPr i="0" sz="1100" u="none" cap="none" strike="noStrike">
              <a:solidFill>
                <a:srgbClr val="21212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21212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i="0" lang="en-GB" sz="1100" u="none" cap="none" strike="noStrike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•  </a:t>
            </a:r>
            <a:r>
              <a:rPr i="0" lang="en-GB" sz="1100" u="none" cap="none" strike="noStrike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The model reliably provides a risk score</a:t>
            </a:r>
            <a:r>
              <a:rPr lang="en-GB" sz="1100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 to</a:t>
            </a:r>
            <a:r>
              <a:rPr i="0" lang="en-GB" sz="1100" u="none" cap="none" strike="noStrike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 every customer (test AUC 0.85)</a:t>
            </a:r>
            <a:endParaRPr sz="11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10" name="Google Shape;310;p47"/>
          <p:cNvSpPr/>
          <p:nvPr/>
        </p:nvSpPr>
        <p:spPr>
          <a:xfrm>
            <a:off x="4732146" y="1371600"/>
            <a:ext cx="3909300" cy="3291900"/>
          </a:xfrm>
          <a:prstGeom prst="roundRect">
            <a:avLst>
              <a:gd fmla="val 8000" name="adj"/>
            </a:avLst>
          </a:prstGeom>
          <a:solidFill>
            <a:srgbClr val="EAF0F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47"/>
          <p:cNvSpPr txBox="1"/>
          <p:nvPr/>
        </p:nvSpPr>
        <p:spPr>
          <a:xfrm>
            <a:off x="4972183" y="1577340"/>
            <a:ext cx="3463500" cy="20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300" u="none" cap="none" strike="noStrike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Recommended </a:t>
            </a:r>
            <a:r>
              <a:rPr b="1" lang="en-GB" sz="1300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A</a:t>
            </a:r>
            <a:r>
              <a:rPr b="1" i="0" lang="en-GB" sz="1300" u="none" cap="none" strike="noStrike">
                <a:solidFill>
                  <a:srgbClr val="2C587E"/>
                </a:solidFill>
                <a:latin typeface="Georgia"/>
                <a:ea typeface="Georgia"/>
                <a:cs typeface="Georgia"/>
                <a:sym typeface="Georgia"/>
              </a:rPr>
              <a:t>ctions</a:t>
            </a:r>
            <a:endParaRPr b="1" i="0" sz="1300" u="none" cap="none" strike="noStrike">
              <a:solidFill>
                <a:srgbClr val="2C587E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2C587E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D15115"/>
                </a:solidFill>
                <a:latin typeface="Georgia"/>
                <a:ea typeface="Georgia"/>
                <a:cs typeface="Georgia"/>
                <a:sym typeface="Georgia"/>
              </a:rPr>
              <a:t>1.  </a:t>
            </a:r>
            <a:r>
              <a:rPr lang="en-GB" sz="1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Allocate the $2.50 incentive to Online Security add-on sign-ups</a:t>
            </a:r>
            <a:endParaRPr sz="1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D15115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r>
              <a:rPr b="1" i="0" lang="en-GB" sz="1000" u="none" cap="none" strike="noStrike">
                <a:solidFill>
                  <a:srgbClr val="D15115"/>
                </a:solidFill>
                <a:latin typeface="Georgia"/>
                <a:ea typeface="Georgia"/>
                <a:cs typeface="Georgia"/>
                <a:sym typeface="Georgia"/>
              </a:rPr>
              <a:t>.  </a:t>
            </a:r>
            <a:r>
              <a:rPr i="0" lang="en-GB" sz="1000" u="none" cap="none" strike="noStrike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Launch the Top-500 mailer with an Online Security offer</a:t>
            </a:r>
            <a:endParaRPr sz="10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D15115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r>
              <a:rPr b="1" i="0" lang="en-GB" sz="1000" u="none" cap="none" strike="noStrike">
                <a:solidFill>
                  <a:srgbClr val="D15115"/>
                </a:solidFill>
                <a:latin typeface="Georgia"/>
                <a:ea typeface="Georgia"/>
                <a:cs typeface="Georgia"/>
                <a:sym typeface="Georgia"/>
              </a:rPr>
              <a:t>.  </a:t>
            </a:r>
            <a:r>
              <a:rPr lang="en-GB" sz="1000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Push</a:t>
            </a:r>
            <a:r>
              <a:rPr i="0" lang="en-GB" sz="1000" u="none" cap="none" strike="noStrike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 month-to-month customers onto term contracts</a:t>
            </a:r>
            <a:endParaRPr sz="10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D15115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r>
              <a:rPr b="1" i="0" lang="en-GB" sz="1000" u="none" cap="none" strike="noStrike">
                <a:solidFill>
                  <a:srgbClr val="D15115"/>
                </a:solidFill>
                <a:latin typeface="Georgia"/>
                <a:ea typeface="Georgia"/>
                <a:cs typeface="Georgia"/>
                <a:sym typeface="Georgia"/>
              </a:rPr>
              <a:t>.  </a:t>
            </a:r>
            <a:r>
              <a:rPr i="0" lang="en-GB" sz="1000" u="none" cap="none" strike="noStrike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Fix the support experience </a:t>
            </a:r>
            <a:r>
              <a:rPr lang="en-GB" sz="1000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(attitude/expertise) </a:t>
            </a:r>
            <a:r>
              <a:rPr i="0" lang="en-GB" sz="1000" u="none" cap="none" strike="noStrike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- a top-3 churn reason, with possible extra </a:t>
            </a:r>
            <a:r>
              <a:rPr lang="en-GB" sz="1000">
                <a:solidFill>
                  <a:srgbClr val="212121"/>
                </a:solidFill>
                <a:latin typeface="Georgia"/>
                <a:ea typeface="Georgia"/>
                <a:cs typeface="Georgia"/>
                <a:sym typeface="Georgia"/>
              </a:rPr>
              <a:t>training.</a:t>
            </a:r>
            <a:endParaRPr i="0" sz="1000" u="none" cap="none" strike="noStrike">
              <a:solidFill>
                <a:srgbClr val="21212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2121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